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7599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the Linux File System Explorer, a menu-driven C program built directly on Linux system calls. Instead of using a high-level file manager, it shows how a user-space program talks to the kernel to list, inspect, create, delete, rename and search files. (Fill in the placeholders on this slide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like GUI file managers hide the OS interaction. Our project removes that layer: a C program calls Linux system calls directly. Walk the chain left to right: the user picks an option, our C program issues a system call, the kernel handles it through the file system, and storage is touched. Stress three reasons: file operations are the most common OS service, system calls are the only legal door into the kernel, and file descriptors are the kernel handle every open file uses.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objectives stated in our README. Each card also shows where it is demonstrated in the source, so every objective is backed by code. Highlight that we did not just read about system calls; each objective maps to a concrete function.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confirmed from the repository. The Makefile uses gcc with -Wall -Wextra and the C11 standard, and links five object files into a binary called explorer. The headers on the right are the ones actually included in our source files.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diagram. The user talks to a menu-driven text interface, not a command parser. main.c loops, reads a number and dispatches to one of four groups of functions. Those functions call Linux system calls; the kernel resolves them through the Virtual File System into the actual filesystem and storage. Each layer only talks to the next one, which keeps the design clean.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files in the repo. main.c is the driver, explorer.c draws the menu and shows the current directory, directory.c handles navigation and directory create/delete plus listing, file_operations.c handles metadata and file operations, and search.c is the recursive search. Each .c has a matching .h. The repo also contains documentation files such as Module Description and Program Output.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call in this table was checked in the source. Note the honest distinction: most are normal libc wrappers over kernel system calls, but getdents64 is invoked directly with syscall(SYS_getdents64, ...). Also, printf, fgets, perror, snprintf, strcmp and ctime are C library functions, not system calls. If asked, we say so clearly.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file descriptor is a small non-negative integer that indexes the process file descriptor table in the kernel. open() returns it, read, write and close take it. 0, 1 and 2 are already open when the program starts: stdin, stdout, stderr. In read_file() we open the file, loop read into a 4096-byte buffer, write each chunk to STDOUT_FILENO, and close. Also mention that the directory itself is opened with a descriptor for getdents64.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list a directory we open "." with O_DIRECTORY, then call getdents64 through syscall(). The kernel fills our 4096-byte buffer with variable-length linux_dirent64 records. We walk the buffer using d_reclen to jump to the next record, and use d_type to label each as DIR, FILE or OTHER. Be honest about the limit: the code makes a single getdents64 call, so a very large directory could exceed one 4096-byte batch and not be fully listed.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 asks the kernel for the inode information of a path and fills a struct stat. We print size, inode number, user and group ID, type, the nine permission bits, and last modification time. Be precise: we do not print link count or access time even though struct stat contains them. Also note we use stat, not lstat, so it follows symbolic links; the symbolic-link branch in the code therefore would not normally trigger. The example on the left shows the output format; values are placeholders.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 map. Create file uses open with O_CREAT, O_WRONLY and O_EXCL, so it fails if the file already exists, and permissions 0644. Create directory uses mkdir with 0755. Delete file uses unlink, delete directory uses rmdir which only works on empty directories, rename uses rename. Reading uses open, read, write to stdout, close. All of these are implemented. The program does not edit file contents, only creates empty files and reads existing ones.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starts at the current directory ".". For each directory we open it, call getdents64, and loop over entries, skipping "." and "..". We build the full path with snprintf. If the name matches exactly with strcmp we print Found. If the entry is a directory, we call the same function again with the new path. That recursion is depth-first traversal. Limits to mention: exact name match only, one getdents64 call per directory, and errors are silently skipped.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with make, run ./explorer. The program shows the banner and the current directory, then a numbered menu. The right-hand terminal is an illustrative walkthrough built from the real prompts and messages in the source; it is not a captured run. The repo contains only the menu screen as recorded output. Before presenting, replace this with your own screenshots from a real run.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request. In user space, main reads the choice with fgets and atoi, the switch calls file_information, which calls stat. The libc wrapper places arguments in registers and executes the syscall instruction, so the CPU switches to kernel mode. The kernel goes through the VFS to the filesystem, finds the inode and fills struct stat, then returns to user mode. On failure stat returns -1 and errno is set, and we print it with perror. Then we format the result with printf.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project gives hands-on understanding of system calls, file descriptors, directory traversal, metadata and kernel interaction. Be upfront about limitations. Future scope items are proposals only, none are implemented.
Q&amp;A PREPARATION
1. System call: controlled entry point through which a user process requests a kernel service (e.g. open, read).
2. File descriptor: small integer index into the process fd table; 0/1/2 = stdin/stdout/stderr.
3. open() vs fopen(): open is the kernel syscall returning an fd, unbuffered; fopen is libc, returns FILE* with user-space buffering and wraps open.
4. read() vs fread(): read is a direct syscall on an fd; fread is buffered libc built on read.
5. Inode: on-disk structure holding metadata and block pointers; filenames are directory entries pointing to inodes.
6. getdents64: Linux syscall that fills a buffer with variable-length linux_dirent64 records.
7. Why not readdir(): readdir() (libc) wraps getdents64 and hides buffering; we call the syscall directly to show the kernel interface. readdir is more portable and handles large directories.
8. open() fails: returns -1, sets errno (ENOENT, EACCES, EEXIST...); we call perror() and return to the menu.
9. unlink vs rmdir: unlink removes a file name (fails on directories); rmdir removes only an EMPTY directory.
10. Recursive search: for each entry, compare name, and on DT_DIR call search_directory again: depth-first tree walk.
11. Kernel role: protection, resource management and abstraction of hardware; validates and executes syscalls.
12. VFS: kernel layer giving one common interface over different filesystems (ext4, etc).
13. Syscall / context switch: syscall instruction traps to kernel mode, registers saved, kernel runs, returns. It is a mode switch; a full context switch is scheduler-driven between processes.
14. stat(): kernel resolves the path to an inode via VFS and copies inode fields into struct stat.
15. No permission: syscall returns -1 with EACCES/EPERM; we print it via perror; the kernel enforces permissions, not our code.
16. Why C: direct access to syscalls, no runtime overhead, Linux and its kernel are written in 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640080" y="640080"/>
            <a:ext cx="4572000" cy="320040"/>
          </a:xfrm>
          <a:prstGeom prst="rect">
            <a:avLst/>
          </a:prstGeom>
          <a:noFill/>
          <a:ln/>
        </p:spPr>
        <p:txBody>
          <a:bodyPr wrap="square" lIns="0" tIns="0" rIns="0" bIns="0" rtlCol="0" anchor="t"/>
          <a:lstStyle/>
          <a:p>
            <a:pPr marL="0" indent="0">
              <a:buNone/>
            </a:pPr>
            <a:r>
              <a:rPr lang="en-US" sz="1400" dirty="0">
                <a:solidFill>
                  <a:srgbClr val="3FB950"/>
                </a:solidFill>
                <a:latin typeface="Consolas" pitchFamily="34" charset="0"/>
                <a:ea typeface="Consolas" pitchFamily="34" charset="-122"/>
                <a:cs typeface="Consolas" pitchFamily="34" charset="-120"/>
              </a:rPr>
              <a:t>$ ./explorer</a:t>
            </a:r>
            <a:endParaRPr lang="en-US" sz="1400" dirty="0"/>
          </a:p>
        </p:txBody>
      </p:sp>
      <p:sp>
        <p:nvSpPr>
          <p:cNvPr id="3" name="Text 1"/>
          <p:cNvSpPr txBox="1"/>
          <p:nvPr/>
        </p:nvSpPr>
        <p:spPr>
          <a:xfrm>
            <a:off x="640080" y="1051560"/>
            <a:ext cx="7863840" cy="1097280"/>
          </a:xfrm>
          <a:prstGeom prst="rect">
            <a:avLst/>
          </a:prstGeom>
          <a:noFill/>
          <a:ln/>
        </p:spPr>
        <p:txBody>
          <a:bodyPr wrap="square" lIns="0" tIns="0" rIns="0" bIns="0" rtlCol="0" anchor="t"/>
          <a:lstStyle/>
          <a:p>
            <a:pPr marL="0" indent="0">
              <a:buNone/>
            </a:pPr>
            <a:r>
              <a:rPr lang="en-US" sz="3400" b="1" dirty="0">
                <a:solidFill>
                  <a:srgbClr val="E6EDF3"/>
                </a:solidFill>
                <a:latin typeface="Calibri" pitchFamily="34" charset="0"/>
                <a:ea typeface="Calibri" pitchFamily="34" charset="-122"/>
                <a:cs typeface="Calibri" pitchFamily="34" charset="-120"/>
              </a:rPr>
              <a:t>Linux File System Explorer Using System Calls</a:t>
            </a:r>
            <a:endParaRPr lang="en-US" sz="3400" dirty="0"/>
          </a:p>
        </p:txBody>
      </p:sp>
      <p:sp>
        <p:nvSpPr>
          <p:cNvPr id="4" name="Text 2"/>
          <p:cNvSpPr txBox="1"/>
          <p:nvPr/>
        </p:nvSpPr>
        <p:spPr>
          <a:xfrm>
            <a:off x="640080" y="2194560"/>
            <a:ext cx="7863840" cy="365760"/>
          </a:xfrm>
          <a:prstGeom prst="rect">
            <a:avLst/>
          </a:prstGeom>
          <a:noFill/>
          <a:ln/>
        </p:spPr>
        <p:txBody>
          <a:bodyPr wrap="square" lIns="0" tIns="0" rIns="0" bIns="0" rtlCol="0" anchor="t"/>
          <a:lstStyle/>
          <a:p>
            <a:pPr marL="0" indent="0">
              <a:buNone/>
            </a:pPr>
            <a:r>
              <a:rPr lang="en-US" sz="1600" dirty="0">
                <a:solidFill>
                  <a:srgbClr val="58A6FF"/>
                </a:solidFill>
                <a:latin typeface="Calibri" pitchFamily="34" charset="0"/>
                <a:ea typeface="Calibri" pitchFamily="34" charset="-122"/>
                <a:cs typeface="Calibri" pitchFamily="34" charset="-120"/>
              </a:rPr>
              <a:t>A C-Based Linux File Management and System Programming Project</a:t>
            </a:r>
            <a:endParaRPr lang="en-US" sz="1600" dirty="0"/>
          </a:p>
        </p:txBody>
      </p:sp>
      <p:sp>
        <p:nvSpPr>
          <p:cNvPr id="5" name="Shape 3"/>
          <p:cNvSpPr/>
          <p:nvPr/>
        </p:nvSpPr>
        <p:spPr>
          <a:xfrm>
            <a:off x="640080" y="2880360"/>
            <a:ext cx="7863840" cy="1691640"/>
          </a:xfrm>
          <a:prstGeom prst="roundRect">
            <a:avLst>
              <a:gd name="adj" fmla="val 3243"/>
            </a:avLst>
          </a:prstGeom>
          <a:solidFill>
            <a:srgbClr val="161B22"/>
          </a:solidFill>
          <a:ln w="12700">
            <a:solidFill>
              <a:srgbClr val="30363D"/>
            </a:solidFill>
            <a:prstDash val="solid"/>
          </a:ln>
        </p:spPr>
      </p:sp>
      <p:sp>
        <p:nvSpPr>
          <p:cNvPr id="6" name="Text 4"/>
          <p:cNvSpPr txBox="1"/>
          <p:nvPr/>
        </p:nvSpPr>
        <p:spPr>
          <a:xfrm>
            <a:off x="868680" y="3017520"/>
            <a:ext cx="7406640" cy="1463040"/>
          </a:xfrm>
          <a:prstGeom prst="rect">
            <a:avLst/>
          </a:prstGeom>
          <a:noFill/>
          <a:ln/>
        </p:spPr>
        <p:txBody>
          <a:bodyPr wrap="square" lIns="0" tIns="0" rIns="0" bIns="0" rtlCol="0" anchor="t"/>
          <a:lstStyle/>
          <a:p>
            <a:pPr marL="0" indent="0">
              <a:spcAft>
                <a:spcPts val="500"/>
              </a:spcAft>
              <a:buNone/>
            </a:pPr>
            <a:r>
              <a:rPr lang="en-US" sz="1200" dirty="0">
                <a:solidFill>
                  <a:srgbClr val="9DA7B3"/>
                </a:solidFill>
                <a:latin typeface="Calibri" pitchFamily="34" charset="0"/>
                <a:ea typeface="Calibri" pitchFamily="34" charset="-122"/>
                <a:cs typeface="Calibri" pitchFamily="34" charset="-120"/>
              </a:rPr>
              <a:t>Team Members:  </a:t>
            </a:r>
            <a:r>
              <a:rPr lang="en-US" sz="1200" dirty="0">
                <a:solidFill>
                  <a:srgbClr val="E6EDF3"/>
                </a:solidFill>
                <a:latin typeface="Calibri" pitchFamily="34" charset="0"/>
                <a:ea typeface="Calibri" pitchFamily="34" charset="-122"/>
                <a:cs typeface="Calibri" pitchFamily="34" charset="-120"/>
              </a:rPr>
              <a:t>Raghava Akkinepally |   Jayanth Sunkara|   Sashank</a:t>
            </a:r>
          </a:p>
          <a:p>
            <a:pPr marL="0" indent="0">
              <a:spcAft>
                <a:spcPts val="500"/>
              </a:spcAft>
              <a:buNone/>
            </a:pPr>
            <a:r>
              <a:rPr lang="en-US" sz="1200" dirty="0">
                <a:solidFill>
                  <a:srgbClr val="9DA7B3"/>
                </a:solidFill>
                <a:latin typeface="Calibri" pitchFamily="34" charset="0"/>
                <a:ea typeface="Calibri" pitchFamily="34" charset="-122"/>
                <a:cs typeface="Calibri" pitchFamily="34" charset="-120"/>
              </a:rPr>
              <a:t>Department:  </a:t>
            </a:r>
            <a:r>
              <a:rPr lang="en-US" sz="1200" dirty="0">
                <a:solidFill>
                  <a:srgbClr val="E6EDF3"/>
                </a:solidFill>
                <a:latin typeface="Calibri" pitchFamily="34" charset="0"/>
                <a:ea typeface="Calibri" pitchFamily="34" charset="-122"/>
                <a:cs typeface="Calibri" pitchFamily="34" charset="-120"/>
              </a:rPr>
              <a:t>Department of Computer Science &amp;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Problem Statement</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File managers hide how applications really talk to the OS.</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2</a:t>
            </a:r>
            <a:endParaRPr lang="en-US" sz="800" dirty="0"/>
          </a:p>
        </p:txBody>
      </p:sp>
      <p:sp>
        <p:nvSpPr>
          <p:cNvPr id="7" name="Text 4"/>
          <p:cNvSpPr/>
          <p:nvPr/>
        </p:nvSpPr>
        <p:spPr>
          <a:xfrm>
            <a:off x="457200" y="1188720"/>
            <a:ext cx="1234440" cy="548640"/>
          </a:xfrm>
          <a:prstGeom prst="roundRect">
            <a:avLst>
              <a:gd name="adj" fmla="val 10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User</a:t>
            </a:r>
            <a:endParaRPr lang="en-US" sz="1100" dirty="0"/>
          </a:p>
        </p:txBody>
      </p:sp>
      <p:sp>
        <p:nvSpPr>
          <p:cNvPr id="8" name="Text 5"/>
          <p:cNvSpPr txBox="1"/>
          <p:nvPr/>
        </p:nvSpPr>
        <p:spPr>
          <a:xfrm>
            <a:off x="1673352" y="1325880"/>
            <a:ext cx="201168"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9" name="Text 6"/>
          <p:cNvSpPr/>
          <p:nvPr/>
        </p:nvSpPr>
        <p:spPr>
          <a:xfrm>
            <a:off x="1856232" y="1188720"/>
            <a:ext cx="1234440" cy="548640"/>
          </a:xfrm>
          <a:prstGeom prst="roundRect">
            <a:avLst>
              <a:gd name="adj" fmla="val 10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C Program</a:t>
            </a:r>
            <a:endParaRPr lang="en-US" sz="1100" dirty="0"/>
          </a:p>
        </p:txBody>
      </p:sp>
      <p:sp>
        <p:nvSpPr>
          <p:cNvPr id="10" name="Text 7"/>
          <p:cNvSpPr txBox="1"/>
          <p:nvPr/>
        </p:nvSpPr>
        <p:spPr>
          <a:xfrm>
            <a:off x="3072384" y="1325880"/>
            <a:ext cx="201168"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1" name="Text 8"/>
          <p:cNvSpPr/>
          <p:nvPr/>
        </p:nvSpPr>
        <p:spPr>
          <a:xfrm>
            <a:off x="3255264" y="1188720"/>
            <a:ext cx="1234440" cy="548640"/>
          </a:xfrm>
          <a:prstGeom prst="roundRect">
            <a:avLst>
              <a:gd name="adj" fmla="val 10000"/>
            </a:avLst>
          </a:prstGeom>
          <a:solidFill>
            <a:srgbClr val="161B22"/>
          </a:solidFill>
          <a:ln w="15875">
            <a:solidFill>
              <a:srgbClr val="3FB950"/>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System Calls</a:t>
            </a:r>
            <a:endParaRPr lang="en-US" sz="1100" dirty="0"/>
          </a:p>
        </p:txBody>
      </p:sp>
      <p:sp>
        <p:nvSpPr>
          <p:cNvPr id="12" name="Text 9"/>
          <p:cNvSpPr txBox="1"/>
          <p:nvPr/>
        </p:nvSpPr>
        <p:spPr>
          <a:xfrm>
            <a:off x="4471416" y="1325880"/>
            <a:ext cx="201168"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4654296" y="1188720"/>
            <a:ext cx="1234440" cy="548640"/>
          </a:xfrm>
          <a:prstGeom prst="roundRect">
            <a:avLst>
              <a:gd name="adj" fmla="val 10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Linux Kernel</a:t>
            </a:r>
            <a:endParaRPr lang="en-US" sz="1100" dirty="0"/>
          </a:p>
        </p:txBody>
      </p:sp>
      <p:sp>
        <p:nvSpPr>
          <p:cNvPr id="14" name="Text 11"/>
          <p:cNvSpPr txBox="1"/>
          <p:nvPr/>
        </p:nvSpPr>
        <p:spPr>
          <a:xfrm>
            <a:off x="5870448" y="1325880"/>
            <a:ext cx="201168"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6053328" y="1188720"/>
            <a:ext cx="1234440" cy="548640"/>
          </a:xfrm>
          <a:prstGeom prst="roundRect">
            <a:avLst>
              <a:gd name="adj" fmla="val 10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File System</a:t>
            </a:r>
            <a:endParaRPr lang="en-US" sz="1100" dirty="0"/>
          </a:p>
        </p:txBody>
      </p:sp>
      <p:sp>
        <p:nvSpPr>
          <p:cNvPr id="16" name="Text 13"/>
          <p:cNvSpPr txBox="1"/>
          <p:nvPr/>
        </p:nvSpPr>
        <p:spPr>
          <a:xfrm>
            <a:off x="7269480" y="1325880"/>
            <a:ext cx="201168"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7452360" y="1188720"/>
            <a:ext cx="1234440" cy="548640"/>
          </a:xfrm>
          <a:prstGeom prst="roundRect">
            <a:avLst>
              <a:gd name="adj" fmla="val 10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Storage</a:t>
            </a:r>
            <a:endParaRPr lang="en-US" sz="1100" dirty="0"/>
          </a:p>
        </p:txBody>
      </p:sp>
      <p:sp>
        <p:nvSpPr>
          <p:cNvPr id="18" name="Shape 15"/>
          <p:cNvSpPr/>
          <p:nvPr/>
        </p:nvSpPr>
        <p:spPr>
          <a:xfrm>
            <a:off x="457200" y="2194560"/>
            <a:ext cx="2651760" cy="2194560"/>
          </a:xfrm>
          <a:prstGeom prst="roundRect">
            <a:avLst>
              <a:gd name="adj" fmla="val 2500"/>
            </a:avLst>
          </a:prstGeom>
          <a:solidFill>
            <a:srgbClr val="161B22"/>
          </a:solidFill>
          <a:ln w="12700">
            <a:solidFill>
              <a:srgbClr val="30363D"/>
            </a:solidFill>
            <a:prstDash val="solid"/>
          </a:ln>
        </p:spPr>
      </p:sp>
      <p:sp>
        <p:nvSpPr>
          <p:cNvPr id="19" name="Text 16"/>
          <p:cNvSpPr txBox="1"/>
          <p:nvPr/>
        </p:nvSpPr>
        <p:spPr>
          <a:xfrm>
            <a:off x="594360" y="2331720"/>
            <a:ext cx="2377440" cy="548640"/>
          </a:xfrm>
          <a:prstGeom prst="rect">
            <a:avLst/>
          </a:prstGeom>
          <a:noFill/>
          <a:ln/>
        </p:spPr>
        <p:txBody>
          <a:bodyPr wrap="square" lIns="0" tIns="0" rIns="0" bIns="0" rtlCol="0" anchor="t"/>
          <a:lstStyle/>
          <a:p>
            <a:pPr marL="0" indent="0">
              <a:buNone/>
            </a:pPr>
            <a:r>
              <a:rPr lang="en-US" sz="1300" b="1" dirty="0">
                <a:solidFill>
                  <a:srgbClr val="3FB950"/>
                </a:solidFill>
                <a:latin typeface="Calibri" pitchFamily="34" charset="0"/>
                <a:ea typeface="Calibri" pitchFamily="34" charset="-122"/>
                <a:cs typeface="Calibri" pitchFamily="34" charset="-120"/>
              </a:rPr>
              <a:t>Why filesystem operations matter</a:t>
            </a:r>
            <a:endParaRPr lang="en-US" sz="1300" dirty="0"/>
          </a:p>
        </p:txBody>
      </p:sp>
      <p:sp>
        <p:nvSpPr>
          <p:cNvPr id="20" name="Text 17"/>
          <p:cNvSpPr txBox="1"/>
          <p:nvPr/>
        </p:nvSpPr>
        <p:spPr>
          <a:xfrm>
            <a:off x="594360" y="2926080"/>
            <a:ext cx="2377440" cy="1371600"/>
          </a:xfrm>
          <a:prstGeom prst="rect">
            <a:avLst/>
          </a:prstGeom>
          <a:noFill/>
          <a:ln/>
        </p:spPr>
        <p:txBody>
          <a:bodyPr wrap="square" lIns="0" tIns="0" rIns="0" bIns="0" rtlCol="0" anchor="t"/>
          <a:lstStyle/>
          <a:p>
            <a:pPr marL="0" indent="0">
              <a:buNone/>
            </a:pPr>
            <a:r>
              <a:rPr lang="en-US" sz="1150" dirty="0">
                <a:solidFill>
                  <a:srgbClr val="E6EDF3"/>
                </a:solidFill>
                <a:latin typeface="Calibri" pitchFamily="34" charset="0"/>
                <a:ea typeface="Calibri" pitchFamily="34" charset="-122"/>
                <a:cs typeface="Calibri" pitchFamily="34" charset="-120"/>
              </a:rPr>
              <a:t>Every program reads, writes, creates or deletes files. Listing, metadata and search are the base of all file managers.</a:t>
            </a:r>
            <a:endParaRPr lang="en-US" sz="1150" dirty="0"/>
          </a:p>
        </p:txBody>
      </p:sp>
      <p:sp>
        <p:nvSpPr>
          <p:cNvPr id="21" name="Shape 18"/>
          <p:cNvSpPr/>
          <p:nvPr/>
        </p:nvSpPr>
        <p:spPr>
          <a:xfrm>
            <a:off x="3246120" y="2194560"/>
            <a:ext cx="2651760" cy="2194560"/>
          </a:xfrm>
          <a:prstGeom prst="roundRect">
            <a:avLst>
              <a:gd name="adj" fmla="val 2500"/>
            </a:avLst>
          </a:prstGeom>
          <a:solidFill>
            <a:srgbClr val="161B22"/>
          </a:solidFill>
          <a:ln w="12700">
            <a:solidFill>
              <a:srgbClr val="30363D"/>
            </a:solidFill>
            <a:prstDash val="solid"/>
          </a:ln>
        </p:spPr>
      </p:sp>
      <p:sp>
        <p:nvSpPr>
          <p:cNvPr id="22" name="Text 19"/>
          <p:cNvSpPr txBox="1"/>
          <p:nvPr/>
        </p:nvSpPr>
        <p:spPr>
          <a:xfrm>
            <a:off x="3383280" y="2331720"/>
            <a:ext cx="2377440" cy="548640"/>
          </a:xfrm>
          <a:prstGeom prst="rect">
            <a:avLst/>
          </a:prstGeom>
          <a:noFill/>
          <a:ln/>
        </p:spPr>
        <p:txBody>
          <a:bodyPr wrap="square" lIns="0" tIns="0" rIns="0" bIns="0" rtlCol="0" anchor="t"/>
          <a:lstStyle/>
          <a:p>
            <a:pPr marL="0" indent="0">
              <a:buNone/>
            </a:pPr>
            <a:r>
              <a:rPr lang="en-US" sz="1300" b="1" dirty="0">
                <a:solidFill>
                  <a:srgbClr val="3FB950"/>
                </a:solidFill>
                <a:latin typeface="Calibri" pitchFamily="34" charset="0"/>
                <a:ea typeface="Calibri" pitchFamily="34" charset="-122"/>
                <a:cs typeface="Calibri" pitchFamily="34" charset="-120"/>
              </a:rPr>
              <a:t>Why system calls matter</a:t>
            </a:r>
            <a:endParaRPr lang="en-US" sz="1300" dirty="0"/>
          </a:p>
        </p:txBody>
      </p:sp>
      <p:sp>
        <p:nvSpPr>
          <p:cNvPr id="23" name="Text 20"/>
          <p:cNvSpPr txBox="1"/>
          <p:nvPr/>
        </p:nvSpPr>
        <p:spPr>
          <a:xfrm>
            <a:off x="3383280" y="2926080"/>
            <a:ext cx="2377440" cy="1371600"/>
          </a:xfrm>
          <a:prstGeom prst="rect">
            <a:avLst/>
          </a:prstGeom>
          <a:noFill/>
          <a:ln/>
        </p:spPr>
        <p:txBody>
          <a:bodyPr wrap="square" lIns="0" tIns="0" rIns="0" bIns="0" rtlCol="0" anchor="t"/>
          <a:lstStyle/>
          <a:p>
            <a:pPr marL="0" indent="0">
              <a:buNone/>
            </a:pPr>
            <a:r>
              <a:rPr lang="en-US" sz="1150" dirty="0">
                <a:solidFill>
                  <a:srgbClr val="E6EDF3"/>
                </a:solidFill>
                <a:latin typeface="Calibri" pitchFamily="34" charset="0"/>
                <a:ea typeface="Calibri" pitchFamily="34" charset="-122"/>
                <a:cs typeface="Calibri" pitchFamily="34" charset="-120"/>
              </a:rPr>
              <a:t>User programs cannot touch disks directly. A system call is the controlled entry into kernel mode.</a:t>
            </a:r>
            <a:endParaRPr lang="en-US" sz="1150" dirty="0"/>
          </a:p>
        </p:txBody>
      </p:sp>
      <p:sp>
        <p:nvSpPr>
          <p:cNvPr id="24" name="Shape 21"/>
          <p:cNvSpPr/>
          <p:nvPr/>
        </p:nvSpPr>
        <p:spPr>
          <a:xfrm>
            <a:off x="6035040" y="2194560"/>
            <a:ext cx="2651760" cy="2194560"/>
          </a:xfrm>
          <a:prstGeom prst="roundRect">
            <a:avLst>
              <a:gd name="adj" fmla="val 2500"/>
            </a:avLst>
          </a:prstGeom>
          <a:solidFill>
            <a:srgbClr val="161B22"/>
          </a:solidFill>
          <a:ln w="12700">
            <a:solidFill>
              <a:srgbClr val="30363D"/>
            </a:solidFill>
            <a:prstDash val="solid"/>
          </a:ln>
        </p:spPr>
      </p:sp>
      <p:sp>
        <p:nvSpPr>
          <p:cNvPr id="25" name="Text 22"/>
          <p:cNvSpPr txBox="1"/>
          <p:nvPr/>
        </p:nvSpPr>
        <p:spPr>
          <a:xfrm>
            <a:off x="6172200" y="2331720"/>
            <a:ext cx="2377440" cy="548640"/>
          </a:xfrm>
          <a:prstGeom prst="rect">
            <a:avLst/>
          </a:prstGeom>
          <a:noFill/>
          <a:ln/>
        </p:spPr>
        <p:txBody>
          <a:bodyPr wrap="square" lIns="0" tIns="0" rIns="0" bIns="0" rtlCol="0" anchor="t"/>
          <a:lstStyle/>
          <a:p>
            <a:pPr marL="0" indent="0">
              <a:buNone/>
            </a:pPr>
            <a:r>
              <a:rPr lang="en-US" sz="1300" b="1" dirty="0">
                <a:solidFill>
                  <a:srgbClr val="3FB950"/>
                </a:solidFill>
                <a:latin typeface="Calibri" pitchFamily="34" charset="0"/>
                <a:ea typeface="Calibri" pitchFamily="34" charset="-122"/>
                <a:cs typeface="Calibri" pitchFamily="34" charset="-120"/>
              </a:rPr>
              <a:t>Why file descriptors &amp; kernel interaction</a:t>
            </a:r>
            <a:endParaRPr lang="en-US" sz="1300" dirty="0"/>
          </a:p>
        </p:txBody>
      </p:sp>
      <p:sp>
        <p:nvSpPr>
          <p:cNvPr id="26" name="Text 23"/>
          <p:cNvSpPr txBox="1"/>
          <p:nvPr/>
        </p:nvSpPr>
        <p:spPr>
          <a:xfrm>
            <a:off x="6172200" y="2926080"/>
            <a:ext cx="2377440" cy="1371600"/>
          </a:xfrm>
          <a:prstGeom prst="rect">
            <a:avLst/>
          </a:prstGeom>
          <a:noFill/>
          <a:ln/>
        </p:spPr>
        <p:txBody>
          <a:bodyPr wrap="square" lIns="0" tIns="0" rIns="0" bIns="0" rtlCol="0" anchor="t"/>
          <a:lstStyle/>
          <a:p>
            <a:pPr marL="0" indent="0">
              <a:buNone/>
            </a:pPr>
            <a:r>
              <a:rPr lang="en-US" sz="1150" dirty="0">
                <a:solidFill>
                  <a:srgbClr val="E6EDF3"/>
                </a:solidFill>
                <a:latin typeface="Calibri" pitchFamily="34" charset="0"/>
                <a:ea typeface="Calibri" pitchFamily="34" charset="-122"/>
                <a:cs typeface="Calibri" pitchFamily="34" charset="-120"/>
              </a:rPr>
              <a:t>open() returns a small integer the kernel maps to an open file. Understanding it explains read(), write() and close().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Objectives</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What the project sets out to demonstrate, and where it appears in the code.</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3</a:t>
            </a:r>
            <a:endParaRPr lang="en-US" sz="800" dirty="0"/>
          </a:p>
        </p:txBody>
      </p:sp>
      <p:sp>
        <p:nvSpPr>
          <p:cNvPr id="7" name="Shape 4"/>
          <p:cNvSpPr/>
          <p:nvPr/>
        </p:nvSpPr>
        <p:spPr>
          <a:xfrm>
            <a:off x="457200" y="1234440"/>
            <a:ext cx="1920240" cy="1463040"/>
          </a:xfrm>
          <a:prstGeom prst="roundRect">
            <a:avLst>
              <a:gd name="adj" fmla="val 3750"/>
            </a:avLst>
          </a:prstGeom>
          <a:solidFill>
            <a:srgbClr val="161B22"/>
          </a:solidFill>
          <a:ln w="12700">
            <a:solidFill>
              <a:srgbClr val="30363D"/>
            </a:solidFill>
            <a:prstDash val="solid"/>
          </a:ln>
        </p:spPr>
      </p:sp>
      <p:sp>
        <p:nvSpPr>
          <p:cNvPr id="8" name="Text 5"/>
          <p:cNvSpPr txBox="1"/>
          <p:nvPr/>
        </p:nvSpPr>
        <p:spPr>
          <a:xfrm>
            <a:off x="594360" y="1344168"/>
            <a:ext cx="914400" cy="274320"/>
          </a:xfrm>
          <a:prstGeom prst="rect">
            <a:avLst/>
          </a:prstGeom>
          <a:noFill/>
          <a:ln/>
        </p:spPr>
        <p:txBody>
          <a:bodyPr wrap="square" lIns="0" tIns="0" rIns="0" bIns="0" rtlCol="0" anchor="t"/>
          <a:lstStyle/>
          <a:p>
            <a:pPr marL="0" indent="0">
              <a:buNone/>
            </a:pPr>
            <a:r>
              <a:rPr lang="en-US" sz="1400" b="1" dirty="0">
                <a:solidFill>
                  <a:srgbClr val="3FB950"/>
                </a:solidFill>
                <a:latin typeface="Consolas" pitchFamily="34" charset="0"/>
                <a:ea typeface="Consolas" pitchFamily="34" charset="-122"/>
                <a:cs typeface="Consolas" pitchFamily="34" charset="-120"/>
              </a:rPr>
              <a:t>01</a:t>
            </a:r>
            <a:endParaRPr lang="en-US" sz="1400" dirty="0"/>
          </a:p>
        </p:txBody>
      </p:sp>
      <p:sp>
        <p:nvSpPr>
          <p:cNvPr id="9" name="Text 6"/>
          <p:cNvSpPr txBox="1"/>
          <p:nvPr/>
        </p:nvSpPr>
        <p:spPr>
          <a:xfrm>
            <a:off x="594360" y="1691640"/>
            <a:ext cx="1691640" cy="411480"/>
          </a:xfrm>
          <a:prstGeom prst="rect">
            <a:avLst/>
          </a:prstGeom>
          <a:noFill/>
          <a:ln/>
        </p:spPr>
        <p:txBody>
          <a:bodyPr wrap="square" lIns="0" tIns="0" rIns="0" bIns="0" rtlCol="0" anchor="t"/>
          <a:lstStyle/>
          <a:p>
            <a:pPr marL="0" indent="0">
              <a:buNone/>
            </a:pPr>
            <a:r>
              <a:rPr lang="en-US" sz="1250" b="1" dirty="0">
                <a:solidFill>
                  <a:srgbClr val="E6EDF3"/>
                </a:solidFill>
                <a:latin typeface="Calibri" pitchFamily="34" charset="0"/>
                <a:ea typeface="Calibri" pitchFamily="34" charset="-122"/>
                <a:cs typeface="Calibri" pitchFamily="34" charset="-120"/>
              </a:rPr>
              <a:t>Filesystem operations</a:t>
            </a:r>
            <a:endParaRPr lang="en-US" sz="1250" dirty="0"/>
          </a:p>
        </p:txBody>
      </p:sp>
      <p:sp>
        <p:nvSpPr>
          <p:cNvPr id="10" name="Text 7"/>
          <p:cNvSpPr txBox="1"/>
          <p:nvPr/>
        </p:nvSpPr>
        <p:spPr>
          <a:xfrm>
            <a:off x="594360" y="2148840"/>
            <a:ext cx="1691640" cy="457200"/>
          </a:xfrm>
          <a:prstGeom prst="rect">
            <a:avLst/>
          </a:prstGeom>
          <a:noFill/>
          <a:ln/>
        </p:spPr>
        <p:txBody>
          <a:bodyPr wrap="square" lIns="0" tIns="0" rIns="0" bIns="0" rtlCol="0" anchor="t"/>
          <a:lstStyle/>
          <a:p>
            <a:pPr marL="0" indent="0">
              <a:buNone/>
            </a:pPr>
            <a:r>
              <a:rPr lang="en-US" sz="950" dirty="0">
                <a:solidFill>
                  <a:srgbClr val="9DA7B3"/>
                </a:solidFill>
                <a:latin typeface="Consolas" pitchFamily="34" charset="0"/>
                <a:ea typeface="Consolas" pitchFamily="34" charset="-122"/>
                <a:cs typeface="Consolas" pitchFamily="34" charset="-120"/>
              </a:rPr>
              <a:t>Menu options 1-12</a:t>
            </a:r>
            <a:endParaRPr lang="en-US" sz="950" dirty="0"/>
          </a:p>
        </p:txBody>
      </p:sp>
      <p:sp>
        <p:nvSpPr>
          <p:cNvPr id="11" name="Shape 8"/>
          <p:cNvSpPr/>
          <p:nvPr/>
        </p:nvSpPr>
        <p:spPr>
          <a:xfrm>
            <a:off x="2560320" y="1234440"/>
            <a:ext cx="1920240" cy="1463040"/>
          </a:xfrm>
          <a:prstGeom prst="roundRect">
            <a:avLst>
              <a:gd name="adj" fmla="val 3750"/>
            </a:avLst>
          </a:prstGeom>
          <a:solidFill>
            <a:srgbClr val="161B22"/>
          </a:solidFill>
          <a:ln w="12700">
            <a:solidFill>
              <a:srgbClr val="30363D"/>
            </a:solidFill>
            <a:prstDash val="solid"/>
          </a:ln>
        </p:spPr>
      </p:sp>
      <p:sp>
        <p:nvSpPr>
          <p:cNvPr id="12" name="Text 9"/>
          <p:cNvSpPr txBox="1"/>
          <p:nvPr/>
        </p:nvSpPr>
        <p:spPr>
          <a:xfrm>
            <a:off x="2697480" y="1344168"/>
            <a:ext cx="914400" cy="274320"/>
          </a:xfrm>
          <a:prstGeom prst="rect">
            <a:avLst/>
          </a:prstGeom>
          <a:noFill/>
          <a:ln/>
        </p:spPr>
        <p:txBody>
          <a:bodyPr wrap="square" lIns="0" tIns="0" rIns="0" bIns="0" rtlCol="0" anchor="t"/>
          <a:lstStyle/>
          <a:p>
            <a:pPr marL="0" indent="0">
              <a:buNone/>
            </a:pPr>
            <a:r>
              <a:rPr lang="en-US" sz="1400" b="1" dirty="0">
                <a:solidFill>
                  <a:srgbClr val="3FB950"/>
                </a:solidFill>
                <a:latin typeface="Consolas" pitchFamily="34" charset="0"/>
                <a:ea typeface="Consolas" pitchFamily="34" charset="-122"/>
                <a:cs typeface="Consolas" pitchFamily="34" charset="-120"/>
              </a:rPr>
              <a:t>02</a:t>
            </a:r>
            <a:endParaRPr lang="en-US" sz="1400" dirty="0"/>
          </a:p>
        </p:txBody>
      </p:sp>
      <p:sp>
        <p:nvSpPr>
          <p:cNvPr id="13" name="Text 10"/>
          <p:cNvSpPr txBox="1"/>
          <p:nvPr/>
        </p:nvSpPr>
        <p:spPr>
          <a:xfrm>
            <a:off x="2697480" y="1691640"/>
            <a:ext cx="1691640" cy="411480"/>
          </a:xfrm>
          <a:prstGeom prst="rect">
            <a:avLst/>
          </a:prstGeom>
          <a:noFill/>
          <a:ln/>
        </p:spPr>
        <p:txBody>
          <a:bodyPr wrap="square" lIns="0" tIns="0" rIns="0" bIns="0" rtlCol="0" anchor="t"/>
          <a:lstStyle/>
          <a:p>
            <a:pPr marL="0" indent="0">
              <a:buNone/>
            </a:pPr>
            <a:r>
              <a:rPr lang="en-US" sz="1250" b="1" dirty="0">
                <a:solidFill>
                  <a:srgbClr val="E6EDF3"/>
                </a:solidFill>
                <a:latin typeface="Calibri" pitchFamily="34" charset="0"/>
                <a:ea typeface="Calibri" pitchFamily="34" charset="-122"/>
                <a:cs typeface="Calibri" pitchFamily="34" charset="-120"/>
              </a:rPr>
              <a:t>File descriptors</a:t>
            </a:r>
            <a:endParaRPr lang="en-US" sz="1250" dirty="0"/>
          </a:p>
        </p:txBody>
      </p:sp>
      <p:sp>
        <p:nvSpPr>
          <p:cNvPr id="14" name="Text 11"/>
          <p:cNvSpPr txBox="1"/>
          <p:nvPr/>
        </p:nvSpPr>
        <p:spPr>
          <a:xfrm>
            <a:off x="2697480" y="2148840"/>
            <a:ext cx="1691640" cy="457200"/>
          </a:xfrm>
          <a:prstGeom prst="rect">
            <a:avLst/>
          </a:prstGeom>
          <a:noFill/>
          <a:ln/>
        </p:spPr>
        <p:txBody>
          <a:bodyPr wrap="square" lIns="0" tIns="0" rIns="0" bIns="0" rtlCol="0" anchor="t"/>
          <a:lstStyle/>
          <a:p>
            <a:pPr marL="0" indent="0">
              <a:buNone/>
            </a:pPr>
            <a:r>
              <a:rPr lang="en-US" sz="950" dirty="0">
                <a:solidFill>
                  <a:srgbClr val="9DA7B3"/>
                </a:solidFill>
                <a:latin typeface="Consolas" pitchFamily="34" charset="0"/>
                <a:ea typeface="Consolas" pitchFamily="34" charset="-122"/>
                <a:cs typeface="Consolas" pitchFamily="34" charset="-120"/>
              </a:rPr>
              <a:t>open/read/close in read_file()</a:t>
            </a:r>
            <a:endParaRPr lang="en-US" sz="950" dirty="0"/>
          </a:p>
        </p:txBody>
      </p:sp>
      <p:sp>
        <p:nvSpPr>
          <p:cNvPr id="15" name="Shape 12"/>
          <p:cNvSpPr/>
          <p:nvPr/>
        </p:nvSpPr>
        <p:spPr>
          <a:xfrm>
            <a:off x="4663440" y="1234440"/>
            <a:ext cx="1920240" cy="1463040"/>
          </a:xfrm>
          <a:prstGeom prst="roundRect">
            <a:avLst>
              <a:gd name="adj" fmla="val 3750"/>
            </a:avLst>
          </a:prstGeom>
          <a:solidFill>
            <a:srgbClr val="161B22"/>
          </a:solidFill>
          <a:ln w="12700">
            <a:solidFill>
              <a:srgbClr val="30363D"/>
            </a:solidFill>
            <a:prstDash val="solid"/>
          </a:ln>
        </p:spPr>
      </p:sp>
      <p:sp>
        <p:nvSpPr>
          <p:cNvPr id="16" name="Text 13"/>
          <p:cNvSpPr txBox="1"/>
          <p:nvPr/>
        </p:nvSpPr>
        <p:spPr>
          <a:xfrm>
            <a:off x="4800600" y="1344168"/>
            <a:ext cx="914400" cy="274320"/>
          </a:xfrm>
          <a:prstGeom prst="rect">
            <a:avLst/>
          </a:prstGeom>
          <a:noFill/>
          <a:ln/>
        </p:spPr>
        <p:txBody>
          <a:bodyPr wrap="square" lIns="0" tIns="0" rIns="0" bIns="0" rtlCol="0" anchor="t"/>
          <a:lstStyle/>
          <a:p>
            <a:pPr marL="0" indent="0">
              <a:buNone/>
            </a:pPr>
            <a:r>
              <a:rPr lang="en-US" sz="1400" b="1" dirty="0">
                <a:solidFill>
                  <a:srgbClr val="3FB950"/>
                </a:solidFill>
                <a:latin typeface="Consolas" pitchFamily="34" charset="0"/>
                <a:ea typeface="Consolas" pitchFamily="34" charset="-122"/>
                <a:cs typeface="Consolas" pitchFamily="34" charset="-120"/>
              </a:rPr>
              <a:t>03</a:t>
            </a:r>
            <a:endParaRPr lang="en-US" sz="1400" dirty="0"/>
          </a:p>
        </p:txBody>
      </p:sp>
      <p:sp>
        <p:nvSpPr>
          <p:cNvPr id="17" name="Text 14"/>
          <p:cNvSpPr txBox="1"/>
          <p:nvPr/>
        </p:nvSpPr>
        <p:spPr>
          <a:xfrm>
            <a:off x="4800600" y="1691640"/>
            <a:ext cx="1691640" cy="411480"/>
          </a:xfrm>
          <a:prstGeom prst="rect">
            <a:avLst/>
          </a:prstGeom>
          <a:noFill/>
          <a:ln/>
        </p:spPr>
        <p:txBody>
          <a:bodyPr wrap="square" lIns="0" tIns="0" rIns="0" bIns="0" rtlCol="0" anchor="t"/>
          <a:lstStyle/>
          <a:p>
            <a:pPr marL="0" indent="0">
              <a:buNone/>
            </a:pPr>
            <a:r>
              <a:rPr lang="en-US" sz="1250" b="1" dirty="0">
                <a:solidFill>
                  <a:srgbClr val="E6EDF3"/>
                </a:solidFill>
                <a:latin typeface="Calibri" pitchFamily="34" charset="0"/>
                <a:ea typeface="Calibri" pitchFamily="34" charset="-122"/>
                <a:cs typeface="Calibri" pitchFamily="34" charset="-120"/>
              </a:rPr>
              <a:t>Explore directories</a:t>
            </a:r>
            <a:endParaRPr lang="en-US" sz="1250" dirty="0"/>
          </a:p>
        </p:txBody>
      </p:sp>
      <p:sp>
        <p:nvSpPr>
          <p:cNvPr id="18" name="Text 15"/>
          <p:cNvSpPr txBox="1"/>
          <p:nvPr/>
        </p:nvSpPr>
        <p:spPr>
          <a:xfrm>
            <a:off x="4800600" y="2148840"/>
            <a:ext cx="1691640" cy="457200"/>
          </a:xfrm>
          <a:prstGeom prst="rect">
            <a:avLst/>
          </a:prstGeom>
          <a:noFill/>
          <a:ln/>
        </p:spPr>
        <p:txBody>
          <a:bodyPr wrap="square" lIns="0" tIns="0" rIns="0" bIns="0" rtlCol="0" anchor="t"/>
          <a:lstStyle/>
          <a:p>
            <a:pPr marL="0" indent="0">
              <a:buNone/>
            </a:pPr>
            <a:r>
              <a:rPr lang="en-US" sz="950" dirty="0">
                <a:solidFill>
                  <a:srgbClr val="9DA7B3"/>
                </a:solidFill>
                <a:latin typeface="Consolas" pitchFamily="34" charset="0"/>
                <a:ea typeface="Consolas" pitchFamily="34" charset="-122"/>
                <a:cs typeface="Consolas" pitchFamily="34" charset="-120"/>
              </a:rPr>
              <a:t>list_directory() via getdents64</a:t>
            </a:r>
            <a:endParaRPr lang="en-US" sz="950" dirty="0"/>
          </a:p>
        </p:txBody>
      </p:sp>
      <p:sp>
        <p:nvSpPr>
          <p:cNvPr id="19" name="Shape 16"/>
          <p:cNvSpPr/>
          <p:nvPr/>
        </p:nvSpPr>
        <p:spPr>
          <a:xfrm>
            <a:off x="6766560" y="1234440"/>
            <a:ext cx="1920240" cy="1463040"/>
          </a:xfrm>
          <a:prstGeom prst="roundRect">
            <a:avLst>
              <a:gd name="adj" fmla="val 3750"/>
            </a:avLst>
          </a:prstGeom>
          <a:solidFill>
            <a:srgbClr val="161B22"/>
          </a:solidFill>
          <a:ln w="12700">
            <a:solidFill>
              <a:srgbClr val="30363D"/>
            </a:solidFill>
            <a:prstDash val="solid"/>
          </a:ln>
        </p:spPr>
      </p:sp>
      <p:sp>
        <p:nvSpPr>
          <p:cNvPr id="20" name="Text 17"/>
          <p:cNvSpPr txBox="1"/>
          <p:nvPr/>
        </p:nvSpPr>
        <p:spPr>
          <a:xfrm>
            <a:off x="6903720" y="1344168"/>
            <a:ext cx="914400" cy="274320"/>
          </a:xfrm>
          <a:prstGeom prst="rect">
            <a:avLst/>
          </a:prstGeom>
          <a:noFill/>
          <a:ln/>
        </p:spPr>
        <p:txBody>
          <a:bodyPr wrap="square" lIns="0" tIns="0" rIns="0" bIns="0" rtlCol="0" anchor="t"/>
          <a:lstStyle/>
          <a:p>
            <a:pPr marL="0" indent="0">
              <a:buNone/>
            </a:pPr>
            <a:r>
              <a:rPr lang="en-US" sz="1400" b="1" dirty="0">
                <a:solidFill>
                  <a:srgbClr val="3FB950"/>
                </a:solidFill>
                <a:latin typeface="Consolas" pitchFamily="34" charset="0"/>
                <a:ea typeface="Consolas" pitchFamily="34" charset="-122"/>
                <a:cs typeface="Consolas" pitchFamily="34" charset="-120"/>
              </a:rPr>
              <a:t>04</a:t>
            </a:r>
            <a:endParaRPr lang="en-US" sz="1400" dirty="0"/>
          </a:p>
        </p:txBody>
      </p:sp>
      <p:sp>
        <p:nvSpPr>
          <p:cNvPr id="21" name="Text 18"/>
          <p:cNvSpPr txBox="1"/>
          <p:nvPr/>
        </p:nvSpPr>
        <p:spPr>
          <a:xfrm>
            <a:off x="6903720" y="1691640"/>
            <a:ext cx="1691640" cy="411480"/>
          </a:xfrm>
          <a:prstGeom prst="rect">
            <a:avLst/>
          </a:prstGeom>
          <a:noFill/>
          <a:ln/>
        </p:spPr>
        <p:txBody>
          <a:bodyPr wrap="square" lIns="0" tIns="0" rIns="0" bIns="0" rtlCol="0" anchor="t"/>
          <a:lstStyle/>
          <a:p>
            <a:pPr marL="0" indent="0">
              <a:buNone/>
            </a:pPr>
            <a:r>
              <a:rPr lang="en-US" sz="1250" b="1" dirty="0">
                <a:solidFill>
                  <a:srgbClr val="E6EDF3"/>
                </a:solidFill>
                <a:latin typeface="Calibri" pitchFamily="34" charset="0"/>
                <a:ea typeface="Calibri" pitchFamily="34" charset="-122"/>
                <a:cs typeface="Calibri" pitchFamily="34" charset="-120"/>
              </a:rPr>
              <a:t>File metadata</a:t>
            </a:r>
            <a:endParaRPr lang="en-US" sz="1250" dirty="0"/>
          </a:p>
        </p:txBody>
      </p:sp>
      <p:sp>
        <p:nvSpPr>
          <p:cNvPr id="22" name="Text 19"/>
          <p:cNvSpPr txBox="1"/>
          <p:nvPr/>
        </p:nvSpPr>
        <p:spPr>
          <a:xfrm>
            <a:off x="6903720" y="2148840"/>
            <a:ext cx="1691640" cy="457200"/>
          </a:xfrm>
          <a:prstGeom prst="rect">
            <a:avLst/>
          </a:prstGeom>
          <a:noFill/>
          <a:ln/>
        </p:spPr>
        <p:txBody>
          <a:bodyPr wrap="square" lIns="0" tIns="0" rIns="0" bIns="0" rtlCol="0" anchor="t"/>
          <a:lstStyle/>
          <a:p>
            <a:pPr marL="0" indent="0">
              <a:buNone/>
            </a:pPr>
            <a:r>
              <a:rPr lang="en-US" sz="950" dirty="0">
                <a:solidFill>
                  <a:srgbClr val="9DA7B3"/>
                </a:solidFill>
                <a:latin typeface="Consolas" pitchFamily="34" charset="0"/>
                <a:ea typeface="Consolas" pitchFamily="34" charset="-122"/>
                <a:cs typeface="Consolas" pitchFamily="34" charset="-120"/>
              </a:rPr>
              <a:t>file_information() via stat()</a:t>
            </a:r>
            <a:endParaRPr lang="en-US" sz="950" dirty="0"/>
          </a:p>
        </p:txBody>
      </p:sp>
      <p:sp>
        <p:nvSpPr>
          <p:cNvPr id="23" name="Shape 20"/>
          <p:cNvSpPr/>
          <p:nvPr/>
        </p:nvSpPr>
        <p:spPr>
          <a:xfrm>
            <a:off x="457200" y="2880360"/>
            <a:ext cx="1920240" cy="1463040"/>
          </a:xfrm>
          <a:prstGeom prst="roundRect">
            <a:avLst>
              <a:gd name="adj" fmla="val 3750"/>
            </a:avLst>
          </a:prstGeom>
          <a:solidFill>
            <a:srgbClr val="161B22"/>
          </a:solidFill>
          <a:ln w="12700">
            <a:solidFill>
              <a:srgbClr val="30363D"/>
            </a:solidFill>
            <a:prstDash val="solid"/>
          </a:ln>
        </p:spPr>
      </p:sp>
      <p:sp>
        <p:nvSpPr>
          <p:cNvPr id="24" name="Text 21"/>
          <p:cNvSpPr txBox="1"/>
          <p:nvPr/>
        </p:nvSpPr>
        <p:spPr>
          <a:xfrm>
            <a:off x="594360" y="2990088"/>
            <a:ext cx="914400" cy="274320"/>
          </a:xfrm>
          <a:prstGeom prst="rect">
            <a:avLst/>
          </a:prstGeom>
          <a:noFill/>
          <a:ln/>
        </p:spPr>
        <p:txBody>
          <a:bodyPr wrap="square" lIns="0" tIns="0" rIns="0" bIns="0" rtlCol="0" anchor="t"/>
          <a:lstStyle/>
          <a:p>
            <a:pPr marL="0" indent="0">
              <a:buNone/>
            </a:pPr>
            <a:r>
              <a:rPr lang="en-US" sz="1400" b="1" dirty="0">
                <a:solidFill>
                  <a:srgbClr val="3FB950"/>
                </a:solidFill>
                <a:latin typeface="Consolas" pitchFamily="34" charset="0"/>
                <a:ea typeface="Consolas" pitchFamily="34" charset="-122"/>
                <a:cs typeface="Consolas" pitchFamily="34" charset="-120"/>
              </a:rPr>
              <a:t>05</a:t>
            </a:r>
            <a:endParaRPr lang="en-US" sz="1400" dirty="0"/>
          </a:p>
        </p:txBody>
      </p:sp>
      <p:sp>
        <p:nvSpPr>
          <p:cNvPr id="25" name="Text 22"/>
          <p:cNvSpPr txBox="1"/>
          <p:nvPr/>
        </p:nvSpPr>
        <p:spPr>
          <a:xfrm>
            <a:off x="594360" y="3337560"/>
            <a:ext cx="1691640" cy="411480"/>
          </a:xfrm>
          <a:prstGeom prst="rect">
            <a:avLst/>
          </a:prstGeom>
          <a:noFill/>
          <a:ln/>
        </p:spPr>
        <p:txBody>
          <a:bodyPr wrap="square" lIns="0" tIns="0" rIns="0" bIns="0" rtlCol="0" anchor="t"/>
          <a:lstStyle/>
          <a:p>
            <a:pPr marL="0" indent="0">
              <a:buNone/>
            </a:pPr>
            <a:r>
              <a:rPr lang="en-US" sz="1250" b="1" dirty="0">
                <a:solidFill>
                  <a:srgbClr val="E6EDF3"/>
                </a:solidFill>
                <a:latin typeface="Calibri" pitchFamily="34" charset="0"/>
                <a:ea typeface="Calibri" pitchFamily="34" charset="-122"/>
                <a:cs typeface="Calibri" pitchFamily="34" charset="-120"/>
              </a:rPr>
              <a:t>File management</a:t>
            </a:r>
            <a:endParaRPr lang="en-US" sz="1250" dirty="0"/>
          </a:p>
        </p:txBody>
      </p:sp>
      <p:sp>
        <p:nvSpPr>
          <p:cNvPr id="26" name="Text 23"/>
          <p:cNvSpPr txBox="1"/>
          <p:nvPr/>
        </p:nvSpPr>
        <p:spPr>
          <a:xfrm>
            <a:off x="594360" y="3794760"/>
            <a:ext cx="1691640" cy="457200"/>
          </a:xfrm>
          <a:prstGeom prst="rect">
            <a:avLst/>
          </a:prstGeom>
          <a:noFill/>
          <a:ln/>
        </p:spPr>
        <p:txBody>
          <a:bodyPr wrap="square" lIns="0" tIns="0" rIns="0" bIns="0" rtlCol="0" anchor="t"/>
          <a:lstStyle/>
          <a:p>
            <a:pPr marL="0" indent="0">
              <a:buNone/>
            </a:pPr>
            <a:r>
              <a:rPr lang="en-US" sz="950" dirty="0">
                <a:solidFill>
                  <a:srgbClr val="9DA7B3"/>
                </a:solidFill>
                <a:latin typeface="Consolas" pitchFamily="34" charset="0"/>
                <a:ea typeface="Consolas" pitchFamily="34" charset="-122"/>
                <a:cs typeface="Consolas" pitchFamily="34" charset="-120"/>
              </a:rPr>
              <a:t>create, delete, rename, mkdir, rmdir</a:t>
            </a:r>
            <a:endParaRPr lang="en-US" sz="950" dirty="0"/>
          </a:p>
        </p:txBody>
      </p:sp>
      <p:sp>
        <p:nvSpPr>
          <p:cNvPr id="27" name="Shape 24"/>
          <p:cNvSpPr/>
          <p:nvPr/>
        </p:nvSpPr>
        <p:spPr>
          <a:xfrm>
            <a:off x="2560320" y="2880360"/>
            <a:ext cx="1920240" cy="1463040"/>
          </a:xfrm>
          <a:prstGeom prst="roundRect">
            <a:avLst>
              <a:gd name="adj" fmla="val 3750"/>
            </a:avLst>
          </a:prstGeom>
          <a:solidFill>
            <a:srgbClr val="161B22"/>
          </a:solidFill>
          <a:ln w="12700">
            <a:solidFill>
              <a:srgbClr val="30363D"/>
            </a:solidFill>
            <a:prstDash val="solid"/>
          </a:ln>
        </p:spPr>
      </p:sp>
      <p:sp>
        <p:nvSpPr>
          <p:cNvPr id="28" name="Text 25"/>
          <p:cNvSpPr txBox="1"/>
          <p:nvPr/>
        </p:nvSpPr>
        <p:spPr>
          <a:xfrm>
            <a:off x="2697480" y="2990088"/>
            <a:ext cx="914400" cy="274320"/>
          </a:xfrm>
          <a:prstGeom prst="rect">
            <a:avLst/>
          </a:prstGeom>
          <a:noFill/>
          <a:ln/>
        </p:spPr>
        <p:txBody>
          <a:bodyPr wrap="square" lIns="0" tIns="0" rIns="0" bIns="0" rtlCol="0" anchor="t"/>
          <a:lstStyle/>
          <a:p>
            <a:pPr marL="0" indent="0">
              <a:buNone/>
            </a:pPr>
            <a:r>
              <a:rPr lang="en-US" sz="1400" b="1" dirty="0">
                <a:solidFill>
                  <a:srgbClr val="3FB950"/>
                </a:solidFill>
                <a:latin typeface="Consolas" pitchFamily="34" charset="0"/>
                <a:ea typeface="Consolas" pitchFamily="34" charset="-122"/>
                <a:cs typeface="Consolas" pitchFamily="34" charset="-120"/>
              </a:rPr>
              <a:t>06</a:t>
            </a:r>
            <a:endParaRPr lang="en-US" sz="1400" dirty="0"/>
          </a:p>
        </p:txBody>
      </p:sp>
      <p:sp>
        <p:nvSpPr>
          <p:cNvPr id="29" name="Text 26"/>
          <p:cNvSpPr txBox="1"/>
          <p:nvPr/>
        </p:nvSpPr>
        <p:spPr>
          <a:xfrm>
            <a:off x="2697480" y="3337560"/>
            <a:ext cx="1691640" cy="411480"/>
          </a:xfrm>
          <a:prstGeom prst="rect">
            <a:avLst/>
          </a:prstGeom>
          <a:noFill/>
          <a:ln/>
        </p:spPr>
        <p:txBody>
          <a:bodyPr wrap="square" lIns="0" tIns="0" rIns="0" bIns="0" rtlCol="0" anchor="t"/>
          <a:lstStyle/>
          <a:p>
            <a:pPr marL="0" indent="0">
              <a:buNone/>
            </a:pPr>
            <a:r>
              <a:rPr lang="en-US" sz="1250" b="1" dirty="0">
                <a:solidFill>
                  <a:srgbClr val="E6EDF3"/>
                </a:solidFill>
                <a:latin typeface="Calibri" pitchFamily="34" charset="0"/>
                <a:ea typeface="Calibri" pitchFamily="34" charset="-122"/>
                <a:cs typeface="Calibri" pitchFamily="34" charset="-120"/>
              </a:rPr>
              <a:t>Recursive search</a:t>
            </a:r>
            <a:endParaRPr lang="en-US" sz="1250" dirty="0"/>
          </a:p>
        </p:txBody>
      </p:sp>
      <p:sp>
        <p:nvSpPr>
          <p:cNvPr id="30" name="Text 27"/>
          <p:cNvSpPr txBox="1"/>
          <p:nvPr/>
        </p:nvSpPr>
        <p:spPr>
          <a:xfrm>
            <a:off x="2697480" y="3794760"/>
            <a:ext cx="1691640" cy="457200"/>
          </a:xfrm>
          <a:prstGeom prst="rect">
            <a:avLst/>
          </a:prstGeom>
          <a:noFill/>
          <a:ln/>
        </p:spPr>
        <p:txBody>
          <a:bodyPr wrap="square" lIns="0" tIns="0" rIns="0" bIns="0" rtlCol="0" anchor="t"/>
          <a:lstStyle/>
          <a:p>
            <a:pPr marL="0" indent="0">
              <a:buNone/>
            </a:pPr>
            <a:r>
              <a:rPr lang="en-US" sz="950" dirty="0">
                <a:solidFill>
                  <a:srgbClr val="9DA7B3"/>
                </a:solidFill>
                <a:latin typeface="Consolas" pitchFamily="34" charset="0"/>
                <a:ea typeface="Consolas" pitchFamily="34" charset="-122"/>
                <a:cs typeface="Consolas" pitchFamily="34" charset="-120"/>
              </a:rPr>
              <a:t>search_directory() recursion</a:t>
            </a:r>
            <a:endParaRPr lang="en-US" sz="950" dirty="0"/>
          </a:p>
        </p:txBody>
      </p:sp>
      <p:sp>
        <p:nvSpPr>
          <p:cNvPr id="31" name="Shape 28"/>
          <p:cNvSpPr/>
          <p:nvPr/>
        </p:nvSpPr>
        <p:spPr>
          <a:xfrm>
            <a:off x="4663440" y="2880360"/>
            <a:ext cx="1920240" cy="1463040"/>
          </a:xfrm>
          <a:prstGeom prst="roundRect">
            <a:avLst>
              <a:gd name="adj" fmla="val 3750"/>
            </a:avLst>
          </a:prstGeom>
          <a:solidFill>
            <a:srgbClr val="161B22"/>
          </a:solidFill>
          <a:ln w="12700">
            <a:solidFill>
              <a:srgbClr val="30363D"/>
            </a:solidFill>
            <a:prstDash val="solid"/>
          </a:ln>
        </p:spPr>
      </p:sp>
      <p:sp>
        <p:nvSpPr>
          <p:cNvPr id="32" name="Text 29"/>
          <p:cNvSpPr txBox="1"/>
          <p:nvPr/>
        </p:nvSpPr>
        <p:spPr>
          <a:xfrm>
            <a:off x="4800600" y="2990088"/>
            <a:ext cx="914400" cy="274320"/>
          </a:xfrm>
          <a:prstGeom prst="rect">
            <a:avLst/>
          </a:prstGeom>
          <a:noFill/>
          <a:ln/>
        </p:spPr>
        <p:txBody>
          <a:bodyPr wrap="square" lIns="0" tIns="0" rIns="0" bIns="0" rtlCol="0" anchor="t"/>
          <a:lstStyle/>
          <a:p>
            <a:pPr marL="0" indent="0">
              <a:buNone/>
            </a:pPr>
            <a:r>
              <a:rPr lang="en-US" sz="1400" b="1" dirty="0">
                <a:solidFill>
                  <a:srgbClr val="3FB950"/>
                </a:solidFill>
                <a:latin typeface="Consolas" pitchFamily="34" charset="0"/>
                <a:ea typeface="Consolas" pitchFamily="34" charset="-122"/>
                <a:cs typeface="Consolas" pitchFamily="34" charset="-120"/>
              </a:rPr>
              <a:t>07</a:t>
            </a:r>
            <a:endParaRPr lang="en-US" sz="1400" dirty="0"/>
          </a:p>
        </p:txBody>
      </p:sp>
      <p:sp>
        <p:nvSpPr>
          <p:cNvPr id="33" name="Text 30"/>
          <p:cNvSpPr txBox="1"/>
          <p:nvPr/>
        </p:nvSpPr>
        <p:spPr>
          <a:xfrm>
            <a:off x="4800600" y="3337560"/>
            <a:ext cx="1691640" cy="411480"/>
          </a:xfrm>
          <a:prstGeom prst="rect">
            <a:avLst/>
          </a:prstGeom>
          <a:noFill/>
          <a:ln/>
        </p:spPr>
        <p:txBody>
          <a:bodyPr wrap="square" lIns="0" tIns="0" rIns="0" bIns="0" rtlCol="0" anchor="t"/>
          <a:lstStyle/>
          <a:p>
            <a:pPr marL="0" indent="0">
              <a:buNone/>
            </a:pPr>
            <a:r>
              <a:rPr lang="en-US" sz="1250" b="1" dirty="0">
                <a:solidFill>
                  <a:srgbClr val="E6EDF3"/>
                </a:solidFill>
                <a:latin typeface="Calibri" pitchFamily="34" charset="0"/>
                <a:ea typeface="Calibri" pitchFamily="34" charset="-122"/>
                <a:cs typeface="Calibri" pitchFamily="34" charset="-120"/>
              </a:rPr>
              <a:t>User ↔ kernel interaction</a:t>
            </a:r>
            <a:endParaRPr lang="en-US" sz="1250" dirty="0"/>
          </a:p>
        </p:txBody>
      </p:sp>
      <p:sp>
        <p:nvSpPr>
          <p:cNvPr id="34" name="Text 31"/>
          <p:cNvSpPr txBox="1"/>
          <p:nvPr/>
        </p:nvSpPr>
        <p:spPr>
          <a:xfrm>
            <a:off x="4800600" y="3794760"/>
            <a:ext cx="1691640" cy="457200"/>
          </a:xfrm>
          <a:prstGeom prst="rect">
            <a:avLst/>
          </a:prstGeom>
          <a:noFill/>
          <a:ln/>
        </p:spPr>
        <p:txBody>
          <a:bodyPr wrap="square" lIns="0" tIns="0" rIns="0" bIns="0" rtlCol="0" anchor="t"/>
          <a:lstStyle/>
          <a:p>
            <a:pPr marL="0" indent="0">
              <a:buNone/>
            </a:pPr>
            <a:r>
              <a:rPr lang="en-US" sz="950" dirty="0">
                <a:solidFill>
                  <a:srgbClr val="9DA7B3"/>
                </a:solidFill>
                <a:latin typeface="Consolas" pitchFamily="34" charset="0"/>
                <a:ea typeface="Consolas" pitchFamily="34" charset="-122"/>
                <a:cs typeface="Consolas" pitchFamily="34" charset="-120"/>
              </a:rPr>
              <a:t>Every menu action ends in a syscall</a:t>
            </a:r>
            <a:endParaRPr lang="en-US" sz="950" dirty="0"/>
          </a:p>
        </p:txBody>
      </p:sp>
      <p:sp>
        <p:nvSpPr>
          <p:cNvPr id="35" name="Shape 32"/>
          <p:cNvSpPr/>
          <p:nvPr/>
        </p:nvSpPr>
        <p:spPr>
          <a:xfrm>
            <a:off x="6766560" y="2880360"/>
            <a:ext cx="1920240" cy="1463040"/>
          </a:xfrm>
          <a:prstGeom prst="roundRect">
            <a:avLst>
              <a:gd name="adj" fmla="val 3750"/>
            </a:avLst>
          </a:prstGeom>
          <a:solidFill>
            <a:srgbClr val="161B22"/>
          </a:solidFill>
          <a:ln w="12700">
            <a:solidFill>
              <a:srgbClr val="30363D"/>
            </a:solidFill>
            <a:prstDash val="solid"/>
          </a:ln>
        </p:spPr>
      </p:sp>
      <p:sp>
        <p:nvSpPr>
          <p:cNvPr id="36" name="Text 33"/>
          <p:cNvSpPr txBox="1"/>
          <p:nvPr/>
        </p:nvSpPr>
        <p:spPr>
          <a:xfrm>
            <a:off x="6903720" y="2990088"/>
            <a:ext cx="914400" cy="274320"/>
          </a:xfrm>
          <a:prstGeom prst="rect">
            <a:avLst/>
          </a:prstGeom>
          <a:noFill/>
          <a:ln/>
        </p:spPr>
        <p:txBody>
          <a:bodyPr wrap="square" lIns="0" tIns="0" rIns="0" bIns="0" rtlCol="0" anchor="t"/>
          <a:lstStyle/>
          <a:p>
            <a:pPr marL="0" indent="0">
              <a:buNone/>
            </a:pPr>
            <a:r>
              <a:rPr lang="en-US" sz="1400" b="1" dirty="0">
                <a:solidFill>
                  <a:srgbClr val="3FB950"/>
                </a:solidFill>
                <a:latin typeface="Consolas" pitchFamily="34" charset="0"/>
                <a:ea typeface="Consolas" pitchFamily="34" charset="-122"/>
                <a:cs typeface="Consolas" pitchFamily="34" charset="-120"/>
              </a:rPr>
              <a:t>08</a:t>
            </a:r>
            <a:endParaRPr lang="en-US" sz="1400" dirty="0"/>
          </a:p>
        </p:txBody>
      </p:sp>
      <p:sp>
        <p:nvSpPr>
          <p:cNvPr id="37" name="Text 34"/>
          <p:cNvSpPr txBox="1"/>
          <p:nvPr/>
        </p:nvSpPr>
        <p:spPr>
          <a:xfrm>
            <a:off x="6903720" y="3337560"/>
            <a:ext cx="1691640" cy="411480"/>
          </a:xfrm>
          <a:prstGeom prst="rect">
            <a:avLst/>
          </a:prstGeom>
          <a:noFill/>
          <a:ln/>
        </p:spPr>
        <p:txBody>
          <a:bodyPr wrap="square" lIns="0" tIns="0" rIns="0" bIns="0" rtlCol="0" anchor="t"/>
          <a:lstStyle/>
          <a:p>
            <a:pPr marL="0" indent="0">
              <a:buNone/>
            </a:pPr>
            <a:r>
              <a:rPr lang="en-US" sz="1250" b="1" dirty="0">
                <a:solidFill>
                  <a:srgbClr val="E6EDF3"/>
                </a:solidFill>
                <a:latin typeface="Calibri" pitchFamily="34" charset="0"/>
                <a:ea typeface="Calibri" pitchFamily="34" charset="-122"/>
                <a:cs typeface="Calibri" pitchFamily="34" charset="-120"/>
              </a:rPr>
              <a:t>C system programming</a:t>
            </a:r>
            <a:endParaRPr lang="en-US" sz="1250" dirty="0"/>
          </a:p>
        </p:txBody>
      </p:sp>
      <p:sp>
        <p:nvSpPr>
          <p:cNvPr id="38" name="Text 35"/>
          <p:cNvSpPr txBox="1"/>
          <p:nvPr/>
        </p:nvSpPr>
        <p:spPr>
          <a:xfrm>
            <a:off x="6903720" y="3794760"/>
            <a:ext cx="1691640" cy="457200"/>
          </a:xfrm>
          <a:prstGeom prst="rect">
            <a:avLst/>
          </a:prstGeom>
          <a:noFill/>
          <a:ln/>
        </p:spPr>
        <p:txBody>
          <a:bodyPr wrap="square" lIns="0" tIns="0" rIns="0" bIns="0" rtlCol="0" anchor="t"/>
          <a:lstStyle/>
          <a:p>
            <a:pPr marL="0" indent="0">
              <a:buNone/>
            </a:pPr>
            <a:r>
              <a:rPr lang="en-US" sz="950" dirty="0">
                <a:solidFill>
                  <a:srgbClr val="9DA7B3"/>
                </a:solidFill>
                <a:latin typeface="Consolas" pitchFamily="34" charset="0"/>
                <a:ea typeface="Consolas" pitchFamily="34" charset="-122"/>
                <a:cs typeface="Consolas" pitchFamily="34" charset="-120"/>
              </a:rPr>
              <a:t>Multi-module C project with Makefile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Technologies Used</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Confirmed from the README, Makefile and #include lines.</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4</a:t>
            </a:r>
            <a:endParaRPr lang="en-US" sz="800" dirty="0"/>
          </a:p>
        </p:txBody>
      </p:sp>
      <p:sp>
        <p:nvSpPr>
          <p:cNvPr id="7" name="Shape 4"/>
          <p:cNvSpPr/>
          <p:nvPr/>
        </p:nvSpPr>
        <p:spPr>
          <a:xfrm>
            <a:off x="457200" y="1188720"/>
            <a:ext cx="4937760" cy="548640"/>
          </a:xfrm>
          <a:prstGeom prst="roundRect">
            <a:avLst>
              <a:gd name="adj" fmla="val 8333"/>
            </a:avLst>
          </a:prstGeom>
          <a:solidFill>
            <a:srgbClr val="161B22"/>
          </a:solidFill>
          <a:ln w="15875">
            <a:solidFill>
              <a:srgbClr val="3FB950"/>
            </a:solidFill>
            <a:prstDash val="solid"/>
          </a:ln>
        </p:spPr>
      </p:sp>
      <p:sp>
        <p:nvSpPr>
          <p:cNvPr id="8" name="Text 5"/>
          <p:cNvSpPr txBox="1"/>
          <p:nvPr/>
        </p:nvSpPr>
        <p:spPr>
          <a:xfrm>
            <a:off x="640080" y="1344168"/>
            <a:ext cx="1737360" cy="274320"/>
          </a:xfrm>
          <a:prstGeom prst="rect">
            <a:avLst/>
          </a:prstGeom>
          <a:noFill/>
          <a:ln/>
        </p:spPr>
        <p:txBody>
          <a:bodyPr wrap="square" lIns="0" tIns="0" rIns="0" bIns="0" rtlCol="0" anchor="t"/>
          <a:lstStyle/>
          <a:p>
            <a:pPr marL="0" indent="0">
              <a:buNone/>
            </a:pPr>
            <a:r>
              <a:rPr lang="en-US" sz="1200" b="1" dirty="0">
                <a:solidFill>
                  <a:srgbClr val="9DA7B3"/>
                </a:solidFill>
                <a:latin typeface="Calibri" pitchFamily="34" charset="0"/>
                <a:ea typeface="Calibri" pitchFamily="34" charset="-122"/>
                <a:cs typeface="Calibri" pitchFamily="34" charset="-120"/>
              </a:rPr>
              <a:t>Language</a:t>
            </a:r>
            <a:endParaRPr lang="en-US" sz="1200" dirty="0"/>
          </a:p>
        </p:txBody>
      </p:sp>
      <p:sp>
        <p:nvSpPr>
          <p:cNvPr id="9" name="Text 6"/>
          <p:cNvSpPr txBox="1"/>
          <p:nvPr/>
        </p:nvSpPr>
        <p:spPr>
          <a:xfrm>
            <a:off x="2377440" y="1344168"/>
            <a:ext cx="2926080" cy="274320"/>
          </a:xfrm>
          <a:prstGeom prst="rect">
            <a:avLst/>
          </a:prstGeom>
          <a:noFill/>
          <a:ln/>
        </p:spPr>
        <p:txBody>
          <a:bodyPr wrap="square" lIns="0" tIns="0" rIns="0" bIns="0" rtlCol="0" anchor="t"/>
          <a:lstStyle/>
          <a:p>
            <a:pPr marL="0" indent="0">
              <a:buNone/>
            </a:pPr>
            <a:r>
              <a:rPr lang="en-US" sz="1300" b="1" dirty="0">
                <a:solidFill>
                  <a:srgbClr val="E6EDF3"/>
                </a:solidFill>
                <a:latin typeface="Calibri" pitchFamily="34" charset="0"/>
                <a:ea typeface="Calibri" pitchFamily="34" charset="-122"/>
                <a:cs typeface="Calibri" pitchFamily="34" charset="-120"/>
              </a:rPr>
              <a:t>C</a:t>
            </a:r>
            <a:endParaRPr lang="en-US" sz="1300" dirty="0"/>
          </a:p>
        </p:txBody>
      </p:sp>
      <p:sp>
        <p:nvSpPr>
          <p:cNvPr id="10" name="Shape 7"/>
          <p:cNvSpPr/>
          <p:nvPr/>
        </p:nvSpPr>
        <p:spPr>
          <a:xfrm>
            <a:off x="457200" y="1847088"/>
            <a:ext cx="4937760" cy="548640"/>
          </a:xfrm>
          <a:prstGeom prst="roundRect">
            <a:avLst>
              <a:gd name="adj" fmla="val 8333"/>
            </a:avLst>
          </a:prstGeom>
          <a:solidFill>
            <a:srgbClr val="161B22"/>
          </a:solidFill>
          <a:ln w="15875">
            <a:solidFill>
              <a:srgbClr val="58A6FF"/>
            </a:solidFill>
            <a:prstDash val="solid"/>
          </a:ln>
        </p:spPr>
      </p:sp>
      <p:sp>
        <p:nvSpPr>
          <p:cNvPr id="11" name="Text 8"/>
          <p:cNvSpPr txBox="1"/>
          <p:nvPr/>
        </p:nvSpPr>
        <p:spPr>
          <a:xfrm>
            <a:off x="640080" y="2002536"/>
            <a:ext cx="1737360" cy="274320"/>
          </a:xfrm>
          <a:prstGeom prst="rect">
            <a:avLst/>
          </a:prstGeom>
          <a:noFill/>
          <a:ln/>
        </p:spPr>
        <p:txBody>
          <a:bodyPr wrap="square" lIns="0" tIns="0" rIns="0" bIns="0" rtlCol="0" anchor="t"/>
          <a:lstStyle/>
          <a:p>
            <a:pPr marL="0" indent="0">
              <a:buNone/>
            </a:pPr>
            <a:r>
              <a:rPr lang="en-US" sz="1200" b="1" dirty="0">
                <a:solidFill>
                  <a:srgbClr val="9DA7B3"/>
                </a:solidFill>
                <a:latin typeface="Calibri" pitchFamily="34" charset="0"/>
                <a:ea typeface="Calibri" pitchFamily="34" charset="-122"/>
                <a:cs typeface="Calibri" pitchFamily="34" charset="-120"/>
              </a:rPr>
              <a:t>Operating System</a:t>
            </a:r>
            <a:endParaRPr lang="en-US" sz="1200" dirty="0"/>
          </a:p>
        </p:txBody>
      </p:sp>
      <p:sp>
        <p:nvSpPr>
          <p:cNvPr id="12" name="Text 9"/>
          <p:cNvSpPr txBox="1"/>
          <p:nvPr/>
        </p:nvSpPr>
        <p:spPr>
          <a:xfrm>
            <a:off x="2377440" y="2002536"/>
            <a:ext cx="2926080" cy="274320"/>
          </a:xfrm>
          <a:prstGeom prst="rect">
            <a:avLst/>
          </a:prstGeom>
          <a:noFill/>
          <a:ln/>
        </p:spPr>
        <p:txBody>
          <a:bodyPr wrap="square" lIns="0" tIns="0" rIns="0" bIns="0" rtlCol="0" anchor="t"/>
          <a:lstStyle/>
          <a:p>
            <a:pPr marL="0" indent="0">
              <a:buNone/>
            </a:pPr>
            <a:r>
              <a:rPr lang="en-US" sz="1300" b="1" dirty="0">
                <a:solidFill>
                  <a:srgbClr val="E6EDF3"/>
                </a:solidFill>
                <a:latin typeface="Calibri" pitchFamily="34" charset="0"/>
                <a:ea typeface="Calibri" pitchFamily="34" charset="-122"/>
                <a:cs typeface="Calibri" pitchFamily="34" charset="-120"/>
              </a:rPr>
              <a:t> Ubuntu</a:t>
            </a:r>
            <a:endParaRPr lang="en-US" sz="1300" dirty="0"/>
          </a:p>
        </p:txBody>
      </p:sp>
      <p:sp>
        <p:nvSpPr>
          <p:cNvPr id="13" name="Shape 10"/>
          <p:cNvSpPr/>
          <p:nvPr/>
        </p:nvSpPr>
        <p:spPr>
          <a:xfrm>
            <a:off x="457200" y="2505456"/>
            <a:ext cx="4937760" cy="548640"/>
          </a:xfrm>
          <a:prstGeom prst="roundRect">
            <a:avLst>
              <a:gd name="adj" fmla="val 8333"/>
            </a:avLst>
          </a:prstGeom>
          <a:solidFill>
            <a:srgbClr val="161B22"/>
          </a:solidFill>
          <a:ln w="15875">
            <a:solidFill>
              <a:srgbClr val="3FB950"/>
            </a:solidFill>
            <a:prstDash val="solid"/>
          </a:ln>
        </p:spPr>
      </p:sp>
      <p:sp>
        <p:nvSpPr>
          <p:cNvPr id="14" name="Text 11"/>
          <p:cNvSpPr txBox="1"/>
          <p:nvPr/>
        </p:nvSpPr>
        <p:spPr>
          <a:xfrm>
            <a:off x="640080" y="2660904"/>
            <a:ext cx="1737360" cy="274320"/>
          </a:xfrm>
          <a:prstGeom prst="rect">
            <a:avLst/>
          </a:prstGeom>
          <a:noFill/>
          <a:ln/>
        </p:spPr>
        <p:txBody>
          <a:bodyPr wrap="square" lIns="0" tIns="0" rIns="0" bIns="0" rtlCol="0" anchor="t"/>
          <a:lstStyle/>
          <a:p>
            <a:pPr marL="0" indent="0">
              <a:buNone/>
            </a:pPr>
            <a:r>
              <a:rPr lang="en-US" sz="1200" b="1" dirty="0">
                <a:solidFill>
                  <a:srgbClr val="9DA7B3"/>
                </a:solidFill>
                <a:latin typeface="Calibri" pitchFamily="34" charset="0"/>
                <a:ea typeface="Calibri" pitchFamily="34" charset="-122"/>
                <a:cs typeface="Calibri" pitchFamily="34" charset="-120"/>
              </a:rPr>
              <a:t>Compiler</a:t>
            </a:r>
            <a:endParaRPr lang="en-US" sz="1200" dirty="0"/>
          </a:p>
        </p:txBody>
      </p:sp>
      <p:sp>
        <p:nvSpPr>
          <p:cNvPr id="15" name="Text 12"/>
          <p:cNvSpPr txBox="1"/>
          <p:nvPr/>
        </p:nvSpPr>
        <p:spPr>
          <a:xfrm>
            <a:off x="2377440" y="2660904"/>
            <a:ext cx="2926080" cy="274320"/>
          </a:xfrm>
          <a:prstGeom prst="rect">
            <a:avLst/>
          </a:prstGeom>
          <a:noFill/>
          <a:ln/>
        </p:spPr>
        <p:txBody>
          <a:bodyPr wrap="square" lIns="0" tIns="0" rIns="0" bIns="0" rtlCol="0" anchor="t"/>
          <a:lstStyle/>
          <a:p>
            <a:pPr marL="0" indent="0">
              <a:buNone/>
            </a:pPr>
            <a:r>
              <a:rPr lang="en-US" sz="1300" b="1" dirty="0">
                <a:solidFill>
                  <a:srgbClr val="E6EDF3"/>
                </a:solidFill>
                <a:latin typeface="Calibri" pitchFamily="34" charset="0"/>
                <a:ea typeface="Calibri" pitchFamily="34" charset="-122"/>
                <a:cs typeface="Calibri" pitchFamily="34" charset="-120"/>
              </a:rPr>
              <a:t>GCC  </a:t>
            </a:r>
            <a:endParaRPr lang="en-US" sz="1300" dirty="0"/>
          </a:p>
        </p:txBody>
      </p:sp>
      <p:sp>
        <p:nvSpPr>
          <p:cNvPr id="16" name="Shape 13"/>
          <p:cNvSpPr/>
          <p:nvPr/>
        </p:nvSpPr>
        <p:spPr>
          <a:xfrm>
            <a:off x="457200" y="3163824"/>
            <a:ext cx="4937760" cy="548640"/>
          </a:xfrm>
          <a:prstGeom prst="roundRect">
            <a:avLst>
              <a:gd name="adj" fmla="val 8333"/>
            </a:avLst>
          </a:prstGeom>
          <a:solidFill>
            <a:srgbClr val="161B22"/>
          </a:solidFill>
          <a:ln w="15875">
            <a:solidFill>
              <a:srgbClr val="58A6FF"/>
            </a:solidFill>
            <a:prstDash val="solid"/>
          </a:ln>
        </p:spPr>
      </p:sp>
      <p:sp>
        <p:nvSpPr>
          <p:cNvPr id="17" name="Text 14"/>
          <p:cNvSpPr txBox="1"/>
          <p:nvPr/>
        </p:nvSpPr>
        <p:spPr>
          <a:xfrm>
            <a:off x="640080" y="3319272"/>
            <a:ext cx="1737360" cy="274320"/>
          </a:xfrm>
          <a:prstGeom prst="rect">
            <a:avLst/>
          </a:prstGeom>
          <a:noFill/>
          <a:ln/>
        </p:spPr>
        <p:txBody>
          <a:bodyPr wrap="square" lIns="0" tIns="0" rIns="0" bIns="0" rtlCol="0" anchor="t"/>
          <a:lstStyle/>
          <a:p>
            <a:pPr marL="0" indent="0">
              <a:buNone/>
            </a:pPr>
            <a:r>
              <a:rPr lang="en-US" sz="1200" b="1" dirty="0">
                <a:solidFill>
                  <a:srgbClr val="9DA7B3"/>
                </a:solidFill>
                <a:latin typeface="Calibri" pitchFamily="34" charset="0"/>
                <a:ea typeface="Calibri" pitchFamily="34" charset="-122"/>
                <a:cs typeface="Calibri" pitchFamily="34" charset="-120"/>
              </a:rPr>
              <a:t>Dev Environment</a:t>
            </a:r>
            <a:endParaRPr lang="en-US" sz="1200" dirty="0"/>
          </a:p>
        </p:txBody>
      </p:sp>
      <p:sp>
        <p:nvSpPr>
          <p:cNvPr id="18" name="Text 15"/>
          <p:cNvSpPr txBox="1"/>
          <p:nvPr/>
        </p:nvSpPr>
        <p:spPr>
          <a:xfrm>
            <a:off x="2377440" y="3319272"/>
            <a:ext cx="2926080" cy="274320"/>
          </a:xfrm>
          <a:prstGeom prst="rect">
            <a:avLst/>
          </a:prstGeom>
          <a:noFill/>
          <a:ln/>
        </p:spPr>
        <p:txBody>
          <a:bodyPr wrap="square" lIns="0" tIns="0" rIns="0" bIns="0" rtlCol="0" anchor="t"/>
          <a:lstStyle/>
          <a:p>
            <a:pPr marL="0" indent="0">
              <a:buNone/>
            </a:pPr>
            <a:r>
              <a:rPr lang="en-US" sz="1300" b="1" dirty="0">
                <a:solidFill>
                  <a:srgbClr val="E6EDF3"/>
                </a:solidFill>
                <a:latin typeface="Calibri" pitchFamily="34" charset="0"/>
                <a:ea typeface="Calibri" pitchFamily="34" charset="-122"/>
                <a:cs typeface="Calibri" pitchFamily="34" charset="-120"/>
              </a:rPr>
              <a:t> Ubuntu </a:t>
            </a:r>
            <a:endParaRPr lang="en-US" sz="1300" dirty="0"/>
          </a:p>
        </p:txBody>
      </p:sp>
      <p:sp>
        <p:nvSpPr>
          <p:cNvPr id="20" name="Text 17"/>
          <p:cNvSpPr txBox="1"/>
          <p:nvPr/>
        </p:nvSpPr>
        <p:spPr>
          <a:xfrm>
            <a:off x="298609" y="3977640"/>
            <a:ext cx="1737360" cy="274320"/>
          </a:xfrm>
          <a:prstGeom prst="rect">
            <a:avLst/>
          </a:prstGeom>
          <a:noFill/>
          <a:ln/>
        </p:spPr>
        <p:txBody>
          <a:bodyPr wrap="square" lIns="0" tIns="0" rIns="0" bIns="0" rtlCol="0" anchor="t"/>
          <a:lstStyle/>
          <a:p>
            <a:pPr marL="0" indent="0">
              <a:buNone/>
            </a:pPr>
            <a:endParaRPr lang="en-US" sz="1200" dirty="0"/>
          </a:p>
        </p:txBody>
      </p:sp>
      <p:sp>
        <p:nvSpPr>
          <p:cNvPr id="21" name="Text 18"/>
          <p:cNvSpPr txBox="1"/>
          <p:nvPr/>
        </p:nvSpPr>
        <p:spPr>
          <a:xfrm>
            <a:off x="2127409" y="4005072"/>
            <a:ext cx="2926080" cy="274320"/>
          </a:xfrm>
          <a:prstGeom prst="rect">
            <a:avLst/>
          </a:prstGeom>
          <a:noFill/>
          <a:ln/>
        </p:spPr>
        <p:txBody>
          <a:bodyPr wrap="square" lIns="0" tIns="0" rIns="0" bIns="0" rtlCol="0" anchor="t"/>
          <a:lstStyle/>
          <a:p>
            <a:pPr marL="0" indent="0">
              <a:buNone/>
            </a:pPr>
            <a:endParaRPr lang="en-US" sz="1300" dirty="0"/>
          </a:p>
        </p:txBody>
      </p:sp>
      <p:sp>
        <p:nvSpPr>
          <p:cNvPr id="22" name="Shape 19"/>
          <p:cNvSpPr/>
          <p:nvPr/>
        </p:nvSpPr>
        <p:spPr>
          <a:xfrm>
            <a:off x="5669280" y="1188720"/>
            <a:ext cx="3017520" cy="3200400"/>
          </a:xfrm>
          <a:prstGeom prst="roundRect">
            <a:avLst>
              <a:gd name="adj" fmla="val 1818"/>
            </a:avLst>
          </a:prstGeom>
          <a:solidFill>
            <a:srgbClr val="161B22"/>
          </a:solidFill>
          <a:ln w="12700">
            <a:solidFill>
              <a:srgbClr val="30363D"/>
            </a:solidFill>
            <a:prstDash val="solid"/>
          </a:ln>
        </p:spPr>
      </p:sp>
      <p:sp>
        <p:nvSpPr>
          <p:cNvPr id="23" name="Text 20"/>
          <p:cNvSpPr txBox="1"/>
          <p:nvPr/>
        </p:nvSpPr>
        <p:spPr>
          <a:xfrm>
            <a:off x="5852160" y="1298448"/>
            <a:ext cx="2743200" cy="274320"/>
          </a:xfrm>
          <a:prstGeom prst="rect">
            <a:avLst/>
          </a:prstGeom>
          <a:noFill/>
          <a:ln/>
        </p:spPr>
        <p:txBody>
          <a:bodyPr wrap="square" lIns="0" tIns="0" rIns="0" bIns="0" rtlCol="0" anchor="t"/>
          <a:lstStyle/>
          <a:p>
            <a:pPr marL="0" indent="0">
              <a:buNone/>
            </a:pPr>
            <a:r>
              <a:rPr lang="en-US" sz="1300" b="1" dirty="0">
                <a:solidFill>
                  <a:srgbClr val="3FB950"/>
                </a:solidFill>
                <a:latin typeface="Calibri" pitchFamily="34" charset="0"/>
                <a:ea typeface="Calibri" pitchFamily="34" charset="-122"/>
                <a:cs typeface="Calibri" pitchFamily="34" charset="-120"/>
              </a:rPr>
              <a:t>Headers used in source</a:t>
            </a:r>
            <a:endParaRPr lang="en-US" sz="1300" dirty="0"/>
          </a:p>
        </p:txBody>
      </p:sp>
      <p:sp>
        <p:nvSpPr>
          <p:cNvPr id="24" name="Text 21"/>
          <p:cNvSpPr txBox="1"/>
          <p:nvPr/>
        </p:nvSpPr>
        <p:spPr>
          <a:xfrm>
            <a:off x="5852160" y="1691640"/>
            <a:ext cx="2743200" cy="1371600"/>
          </a:xfrm>
          <a:prstGeom prst="rect">
            <a:avLst/>
          </a:prstGeom>
          <a:noFill/>
          <a:ln/>
        </p:spPr>
        <p:txBody>
          <a:bodyPr wrap="square" lIns="0" tIns="0" rIns="0" bIns="0" rtlCol="0" anchor="t"/>
          <a:lstStyle/>
          <a:p>
            <a:pPr marL="0" indent="0">
              <a:buNone/>
            </a:pPr>
            <a:r>
              <a:rPr lang="en-US" sz="1100" dirty="0">
                <a:solidFill>
                  <a:srgbClr val="E6EDF3"/>
                </a:solidFill>
                <a:latin typeface="Consolas" pitchFamily="34" charset="0"/>
                <a:ea typeface="Consolas" pitchFamily="34" charset="-122"/>
                <a:cs typeface="Consolas" pitchFamily="34" charset="-120"/>
              </a:rPr>
              <a:t>stdio.h  stdlib.h  string.h</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unistd.h  fcntl.h</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sys/syscall.h</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sys/stat.h  sys/types.h</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time.h</a:t>
            </a:r>
            <a:endParaRPr lang="en-US" sz="1100" dirty="0"/>
          </a:p>
        </p:txBody>
      </p:sp>
      <p:sp>
        <p:nvSpPr>
          <p:cNvPr id="25" name="Text 22"/>
          <p:cNvSpPr txBox="1"/>
          <p:nvPr/>
        </p:nvSpPr>
        <p:spPr>
          <a:xfrm>
            <a:off x="5852160" y="3383280"/>
            <a:ext cx="2651760" cy="822960"/>
          </a:xfrm>
          <a:prstGeom prst="rect">
            <a:avLst/>
          </a:prstGeom>
          <a:noFill/>
          <a:ln/>
        </p:spPr>
        <p:txBody>
          <a:bodyPr wrap="square" lIns="0" tIns="0" rIns="0" bIns="0" rtlCol="0" anchor="t"/>
          <a:lstStyle/>
          <a:p>
            <a:pPr marL="0" indent="0">
              <a:buNone/>
            </a:pPr>
            <a:r>
              <a:rPr lang="en-US" sz="1100" dirty="0">
                <a:solidFill>
                  <a:srgbClr val="9DA7B3"/>
                </a:solidFill>
                <a:latin typeface="Calibri" pitchFamily="34" charset="0"/>
                <a:ea typeface="Calibri" pitchFamily="34" charset="-122"/>
                <a:cs typeface="Calibri" pitchFamily="34" charset="-120"/>
              </a:rPr>
              <a:t>No external libraries. Only libc and Linux kernel interfaces.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System Architecture</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Layered design: menu → modules → system calls → kernel → storage.</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5</a:t>
            </a:r>
            <a:endParaRPr lang="en-US" sz="800" dirty="0"/>
          </a:p>
        </p:txBody>
      </p:sp>
      <p:sp>
        <p:nvSpPr>
          <p:cNvPr id="7" name="Text 4"/>
          <p:cNvSpPr/>
          <p:nvPr/>
        </p:nvSpPr>
        <p:spPr>
          <a:xfrm>
            <a:off x="457200" y="1051560"/>
            <a:ext cx="5120640" cy="384048"/>
          </a:xfrm>
          <a:prstGeom prst="roundRect">
            <a:avLst>
              <a:gd name="adj" fmla="val 14286"/>
            </a:avLst>
          </a:prstGeom>
          <a:solidFill>
            <a:srgbClr val="161B22"/>
          </a:solidFill>
          <a:ln w="15875">
            <a:solidFill>
              <a:srgbClr val="58A6FF"/>
            </a:solidFill>
          </a:ln>
        </p:spPr>
        <p:txBody>
          <a:bodyPr wrap="square" lIns="38100" tIns="38100" rIns="38100" bIns="38100" rtlCol="0" anchor="ctr"/>
          <a:lstStyle/>
          <a:p>
            <a:pPr marL="0" indent="0" algn="ctr">
              <a:buNone/>
            </a:pPr>
            <a:r>
              <a:rPr lang="en-US" sz="1050" b="1" dirty="0">
                <a:solidFill>
                  <a:srgbClr val="E6EDF3"/>
                </a:solidFill>
                <a:latin typeface="Calibri" pitchFamily="34" charset="0"/>
                <a:ea typeface="Calibri" pitchFamily="34" charset="-122"/>
                <a:cs typeface="Calibri" pitchFamily="34" charset="-120"/>
              </a:rPr>
              <a:t>User</a:t>
            </a:r>
            <a:endParaRPr lang="en-US" sz="1050" dirty="0"/>
          </a:p>
        </p:txBody>
      </p:sp>
      <p:sp>
        <p:nvSpPr>
          <p:cNvPr id="8" name="Text 5"/>
          <p:cNvSpPr txBox="1"/>
          <p:nvPr/>
        </p:nvSpPr>
        <p:spPr>
          <a:xfrm>
            <a:off x="5943600" y="1069848"/>
            <a:ext cx="2834640" cy="36576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Types a menu number (1-12)</a:t>
            </a:r>
            <a:endParaRPr lang="en-US" sz="950" dirty="0"/>
          </a:p>
        </p:txBody>
      </p:sp>
      <p:sp>
        <p:nvSpPr>
          <p:cNvPr id="9" name="Text 6"/>
          <p:cNvSpPr txBox="1"/>
          <p:nvPr/>
        </p:nvSpPr>
        <p:spPr>
          <a:xfrm>
            <a:off x="2651760" y="138074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0" name="Text 7"/>
          <p:cNvSpPr/>
          <p:nvPr/>
        </p:nvSpPr>
        <p:spPr>
          <a:xfrm>
            <a:off x="457200" y="1600200"/>
            <a:ext cx="5120640" cy="384048"/>
          </a:xfrm>
          <a:prstGeom prst="roundRect">
            <a:avLst>
              <a:gd name="adj" fmla="val 14286"/>
            </a:avLst>
          </a:prstGeom>
          <a:solidFill>
            <a:srgbClr val="161B22"/>
          </a:solidFill>
          <a:ln w="15875">
            <a:solidFill>
              <a:srgbClr val="58A6FF"/>
            </a:solidFill>
          </a:ln>
        </p:spPr>
        <p:txBody>
          <a:bodyPr wrap="square" lIns="38100" tIns="38100" rIns="38100" bIns="38100" rtlCol="0" anchor="ctr"/>
          <a:lstStyle/>
          <a:p>
            <a:pPr marL="0" indent="0" algn="ctr">
              <a:buNone/>
            </a:pPr>
            <a:r>
              <a:rPr lang="en-US" sz="1050" b="1" dirty="0">
                <a:solidFill>
                  <a:srgbClr val="E6EDF3"/>
                </a:solidFill>
                <a:latin typeface="Calibri" pitchFamily="34" charset="0"/>
                <a:ea typeface="Calibri" pitchFamily="34" charset="-122"/>
                <a:cs typeface="Calibri" pitchFamily="34" charset="-120"/>
              </a:rPr>
              <a:t>Menu Interface  (explorer.c, main.c)</a:t>
            </a:r>
            <a:endParaRPr lang="en-US" sz="1050" dirty="0"/>
          </a:p>
        </p:txBody>
      </p:sp>
      <p:sp>
        <p:nvSpPr>
          <p:cNvPr id="11" name="Text 8"/>
          <p:cNvSpPr txBox="1"/>
          <p:nvPr/>
        </p:nvSpPr>
        <p:spPr>
          <a:xfrm>
            <a:off x="5943600" y="1618488"/>
            <a:ext cx="2834640" cy="36576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display_menu(), fgets(), atoi(), switch dispatch</a:t>
            </a:r>
            <a:endParaRPr lang="en-US" sz="950" dirty="0"/>
          </a:p>
        </p:txBody>
      </p:sp>
      <p:sp>
        <p:nvSpPr>
          <p:cNvPr id="12" name="Text 9"/>
          <p:cNvSpPr txBox="1"/>
          <p:nvPr/>
        </p:nvSpPr>
        <p:spPr>
          <a:xfrm>
            <a:off x="2651760" y="192938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457200" y="2148840"/>
            <a:ext cx="1234440" cy="384048"/>
          </a:xfrm>
          <a:prstGeom prst="roundRect">
            <a:avLst>
              <a:gd name="adj" fmla="val 14286"/>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b="1" dirty="0">
                <a:solidFill>
                  <a:srgbClr val="E6EDF3"/>
                </a:solidFill>
                <a:latin typeface="Calibri" pitchFamily="34" charset="0"/>
                <a:ea typeface="Calibri" pitchFamily="34" charset="-122"/>
                <a:cs typeface="Calibri" pitchFamily="34" charset="-120"/>
              </a:rPr>
              <a:t>Directory Ops</a:t>
            </a:r>
            <a:endParaRPr lang="en-US" sz="950" dirty="0"/>
          </a:p>
        </p:txBody>
      </p:sp>
      <p:sp>
        <p:nvSpPr>
          <p:cNvPr id="14" name="Text 11"/>
          <p:cNvSpPr/>
          <p:nvPr/>
        </p:nvSpPr>
        <p:spPr>
          <a:xfrm>
            <a:off x="1783080" y="2148840"/>
            <a:ext cx="1234440" cy="384048"/>
          </a:xfrm>
          <a:prstGeom prst="roundRect">
            <a:avLst>
              <a:gd name="adj" fmla="val 14286"/>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b="1" dirty="0">
                <a:solidFill>
                  <a:srgbClr val="E6EDF3"/>
                </a:solidFill>
                <a:latin typeface="Calibri" pitchFamily="34" charset="0"/>
                <a:ea typeface="Calibri" pitchFamily="34" charset="-122"/>
                <a:cs typeface="Calibri" pitchFamily="34" charset="-120"/>
              </a:rPr>
              <a:t>File Ops</a:t>
            </a:r>
            <a:endParaRPr lang="en-US" sz="950" dirty="0"/>
          </a:p>
        </p:txBody>
      </p:sp>
      <p:sp>
        <p:nvSpPr>
          <p:cNvPr id="15" name="Text 12"/>
          <p:cNvSpPr/>
          <p:nvPr/>
        </p:nvSpPr>
        <p:spPr>
          <a:xfrm>
            <a:off x="3108960" y="2148840"/>
            <a:ext cx="1234440" cy="384048"/>
          </a:xfrm>
          <a:prstGeom prst="roundRect">
            <a:avLst>
              <a:gd name="adj" fmla="val 14286"/>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b="1" dirty="0">
                <a:solidFill>
                  <a:srgbClr val="E6EDF3"/>
                </a:solidFill>
                <a:latin typeface="Calibri" pitchFamily="34" charset="0"/>
                <a:ea typeface="Calibri" pitchFamily="34" charset="-122"/>
                <a:cs typeface="Calibri" pitchFamily="34" charset="-120"/>
              </a:rPr>
              <a:t>Search</a:t>
            </a:r>
            <a:endParaRPr lang="en-US" sz="950" dirty="0"/>
          </a:p>
        </p:txBody>
      </p:sp>
      <p:sp>
        <p:nvSpPr>
          <p:cNvPr id="16" name="Text 13"/>
          <p:cNvSpPr/>
          <p:nvPr/>
        </p:nvSpPr>
        <p:spPr>
          <a:xfrm>
            <a:off x="4434840" y="2148840"/>
            <a:ext cx="1234440" cy="384048"/>
          </a:xfrm>
          <a:prstGeom prst="roundRect">
            <a:avLst>
              <a:gd name="adj" fmla="val 14286"/>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b="1" dirty="0">
                <a:solidFill>
                  <a:srgbClr val="E6EDF3"/>
                </a:solidFill>
                <a:latin typeface="Calibri" pitchFamily="34" charset="0"/>
                <a:ea typeface="Calibri" pitchFamily="34" charset="-122"/>
                <a:cs typeface="Calibri" pitchFamily="34" charset="-120"/>
              </a:rPr>
              <a:t>Metadata</a:t>
            </a:r>
            <a:endParaRPr lang="en-US" sz="950" dirty="0"/>
          </a:p>
        </p:txBody>
      </p:sp>
      <p:sp>
        <p:nvSpPr>
          <p:cNvPr id="17" name="Text 14"/>
          <p:cNvSpPr txBox="1"/>
          <p:nvPr/>
        </p:nvSpPr>
        <p:spPr>
          <a:xfrm>
            <a:off x="5943600" y="2167128"/>
            <a:ext cx="2834640" cy="36576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Project modules (directory.c, file_operations.c, search.c)</a:t>
            </a:r>
            <a:endParaRPr lang="en-US" sz="950" dirty="0"/>
          </a:p>
        </p:txBody>
      </p:sp>
      <p:sp>
        <p:nvSpPr>
          <p:cNvPr id="18" name="Text 15"/>
          <p:cNvSpPr txBox="1"/>
          <p:nvPr/>
        </p:nvSpPr>
        <p:spPr>
          <a:xfrm>
            <a:off x="2651760" y="247802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457200" y="2697480"/>
            <a:ext cx="5120640" cy="384048"/>
          </a:xfrm>
          <a:prstGeom prst="roundRect">
            <a:avLst>
              <a:gd name="adj" fmla="val 14286"/>
            </a:avLst>
          </a:prstGeom>
          <a:solidFill>
            <a:srgbClr val="161B22"/>
          </a:solidFill>
          <a:ln w="15875">
            <a:solidFill>
              <a:srgbClr val="3FB950"/>
            </a:solidFill>
          </a:ln>
        </p:spPr>
        <p:txBody>
          <a:bodyPr wrap="square" lIns="38100" tIns="38100" rIns="38100" bIns="38100" rtlCol="0" anchor="ctr"/>
          <a:lstStyle/>
          <a:p>
            <a:pPr marL="0" indent="0" algn="ctr">
              <a:buNone/>
            </a:pPr>
            <a:r>
              <a:rPr lang="en-US" sz="1050" b="1" dirty="0">
                <a:solidFill>
                  <a:srgbClr val="E6EDF3"/>
                </a:solidFill>
                <a:latin typeface="Calibri" pitchFamily="34" charset="0"/>
                <a:ea typeface="Calibri" pitchFamily="34" charset="-122"/>
                <a:cs typeface="Calibri" pitchFamily="34" charset="-120"/>
              </a:rPr>
              <a:t>Linux System Calls</a:t>
            </a:r>
            <a:endParaRPr lang="en-US" sz="1050" dirty="0"/>
          </a:p>
        </p:txBody>
      </p:sp>
      <p:sp>
        <p:nvSpPr>
          <p:cNvPr id="20" name="Text 17"/>
          <p:cNvSpPr txBox="1"/>
          <p:nvPr/>
        </p:nvSpPr>
        <p:spPr>
          <a:xfrm>
            <a:off x="5943600" y="2715768"/>
            <a:ext cx="2834640" cy="36576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open, read, write, close, stat, getdents64 ...</a:t>
            </a:r>
            <a:endParaRPr lang="en-US" sz="950" dirty="0"/>
          </a:p>
        </p:txBody>
      </p:sp>
      <p:sp>
        <p:nvSpPr>
          <p:cNvPr id="21" name="Text 18"/>
          <p:cNvSpPr txBox="1"/>
          <p:nvPr/>
        </p:nvSpPr>
        <p:spPr>
          <a:xfrm>
            <a:off x="2651760" y="302666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22" name="Text 19"/>
          <p:cNvSpPr/>
          <p:nvPr/>
        </p:nvSpPr>
        <p:spPr>
          <a:xfrm>
            <a:off x="457200" y="3246120"/>
            <a:ext cx="5120640" cy="384048"/>
          </a:xfrm>
          <a:prstGeom prst="roundRect">
            <a:avLst>
              <a:gd name="adj" fmla="val 14286"/>
            </a:avLst>
          </a:prstGeom>
          <a:solidFill>
            <a:srgbClr val="161B22"/>
          </a:solidFill>
          <a:ln w="15875">
            <a:solidFill>
              <a:srgbClr val="E3B341"/>
            </a:solidFill>
          </a:ln>
        </p:spPr>
        <p:txBody>
          <a:bodyPr wrap="square" lIns="38100" tIns="38100" rIns="38100" bIns="38100" rtlCol="0" anchor="ctr"/>
          <a:lstStyle/>
          <a:p>
            <a:pPr marL="0" indent="0" algn="ctr">
              <a:buNone/>
            </a:pPr>
            <a:r>
              <a:rPr lang="en-US" sz="1050" b="1" dirty="0">
                <a:solidFill>
                  <a:srgbClr val="E6EDF3"/>
                </a:solidFill>
                <a:latin typeface="Calibri" pitchFamily="34" charset="0"/>
                <a:ea typeface="Calibri" pitchFamily="34" charset="-122"/>
                <a:cs typeface="Calibri" pitchFamily="34" charset="-120"/>
              </a:rPr>
              <a:t>Linux Kernel / VFS</a:t>
            </a:r>
            <a:endParaRPr lang="en-US" sz="1050" dirty="0"/>
          </a:p>
        </p:txBody>
      </p:sp>
      <p:sp>
        <p:nvSpPr>
          <p:cNvPr id="23" name="Text 20"/>
          <p:cNvSpPr txBox="1"/>
          <p:nvPr/>
        </p:nvSpPr>
        <p:spPr>
          <a:xfrm>
            <a:off x="5943600" y="3264408"/>
            <a:ext cx="2834640" cy="36576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Validates, resolves path, dispatches to FS driver</a:t>
            </a:r>
            <a:endParaRPr lang="en-US" sz="950" dirty="0"/>
          </a:p>
        </p:txBody>
      </p:sp>
      <p:sp>
        <p:nvSpPr>
          <p:cNvPr id="24" name="Text 21"/>
          <p:cNvSpPr txBox="1"/>
          <p:nvPr/>
        </p:nvSpPr>
        <p:spPr>
          <a:xfrm>
            <a:off x="2651760" y="357530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25" name="Text 22"/>
          <p:cNvSpPr/>
          <p:nvPr/>
        </p:nvSpPr>
        <p:spPr>
          <a:xfrm>
            <a:off x="457200" y="3794760"/>
            <a:ext cx="5120640" cy="384048"/>
          </a:xfrm>
          <a:prstGeom prst="roundRect">
            <a:avLst>
              <a:gd name="adj" fmla="val 14286"/>
            </a:avLst>
          </a:prstGeom>
          <a:solidFill>
            <a:srgbClr val="161B22"/>
          </a:solidFill>
          <a:ln w="15875">
            <a:solidFill>
              <a:srgbClr val="E3B341"/>
            </a:solidFill>
          </a:ln>
        </p:spPr>
        <p:txBody>
          <a:bodyPr wrap="square" lIns="38100" tIns="38100" rIns="38100" bIns="38100" rtlCol="0" anchor="ctr"/>
          <a:lstStyle/>
          <a:p>
            <a:pPr marL="0" indent="0" algn="ctr">
              <a:buNone/>
            </a:pPr>
            <a:r>
              <a:rPr lang="en-US" sz="1050" b="1" dirty="0">
                <a:solidFill>
                  <a:srgbClr val="E6EDF3"/>
                </a:solidFill>
                <a:latin typeface="Calibri" pitchFamily="34" charset="0"/>
                <a:ea typeface="Calibri" pitchFamily="34" charset="-122"/>
                <a:cs typeface="Calibri" pitchFamily="34" charset="-120"/>
              </a:rPr>
              <a:t>Filesystem  (e.g. ext4)</a:t>
            </a:r>
            <a:endParaRPr lang="en-US" sz="1050" dirty="0"/>
          </a:p>
        </p:txBody>
      </p:sp>
      <p:sp>
        <p:nvSpPr>
          <p:cNvPr id="26" name="Text 23"/>
          <p:cNvSpPr txBox="1"/>
          <p:nvPr/>
        </p:nvSpPr>
        <p:spPr>
          <a:xfrm>
            <a:off x="5943600" y="3813048"/>
            <a:ext cx="2834640" cy="36576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Inodes, directory entries, data blocks</a:t>
            </a:r>
            <a:endParaRPr lang="en-US" sz="950" dirty="0"/>
          </a:p>
        </p:txBody>
      </p:sp>
      <p:sp>
        <p:nvSpPr>
          <p:cNvPr id="27" name="Text 24"/>
          <p:cNvSpPr txBox="1"/>
          <p:nvPr/>
        </p:nvSpPr>
        <p:spPr>
          <a:xfrm>
            <a:off x="2651760" y="412394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457200" y="4343400"/>
            <a:ext cx="5120640" cy="384048"/>
          </a:xfrm>
          <a:prstGeom prst="roundRect">
            <a:avLst>
              <a:gd name="adj" fmla="val 14286"/>
            </a:avLst>
          </a:prstGeom>
          <a:solidFill>
            <a:srgbClr val="161B22"/>
          </a:solidFill>
          <a:ln w="15875">
            <a:solidFill>
              <a:srgbClr val="9DA7B3"/>
            </a:solidFill>
          </a:ln>
        </p:spPr>
        <p:txBody>
          <a:bodyPr wrap="square" lIns="38100" tIns="38100" rIns="38100" bIns="38100" rtlCol="0" anchor="ctr"/>
          <a:lstStyle/>
          <a:p>
            <a:pPr marL="0" indent="0" algn="ctr">
              <a:buNone/>
            </a:pPr>
            <a:r>
              <a:rPr lang="en-US" sz="1050" b="1" dirty="0">
                <a:solidFill>
                  <a:srgbClr val="E6EDF3"/>
                </a:solidFill>
                <a:latin typeface="Calibri" pitchFamily="34" charset="0"/>
                <a:ea typeface="Calibri" pitchFamily="34" charset="-122"/>
                <a:cs typeface="Calibri" pitchFamily="34" charset="-120"/>
              </a:rPr>
              <a:t>Storage</a:t>
            </a:r>
            <a:endParaRPr lang="en-US" sz="1050" dirty="0"/>
          </a:p>
        </p:txBody>
      </p:sp>
      <p:sp>
        <p:nvSpPr>
          <p:cNvPr id="29" name="Text 26"/>
          <p:cNvSpPr txBox="1"/>
          <p:nvPr/>
        </p:nvSpPr>
        <p:spPr>
          <a:xfrm>
            <a:off x="5943600" y="4361688"/>
            <a:ext cx="2834640" cy="36576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Disk / SSD</a:t>
            </a:r>
            <a:endParaRPr lang="en-US" sz="950" dirty="0"/>
          </a:p>
        </p:txBody>
      </p:sp>
      <p:sp>
        <p:nvSpPr>
          <p:cNvPr id="30" name="Text 27"/>
          <p:cNvSpPr txBox="1"/>
          <p:nvPr/>
        </p:nvSpPr>
        <p:spPr>
          <a:xfrm>
            <a:off x="5943600" y="914400"/>
            <a:ext cx="2743200" cy="182880"/>
          </a:xfrm>
          <a:prstGeom prst="rect">
            <a:avLst/>
          </a:prstGeom>
          <a:noFill/>
          <a:ln/>
        </p:spPr>
        <p:txBody>
          <a:bodyPr wrap="square" lIns="0" tIns="0" rIns="0" bIns="0" rtlCol="0" anchor="t"/>
          <a:lstStyle/>
          <a:p>
            <a:pPr marL="0" indent="0">
              <a:buNone/>
            </a:pPr>
            <a:r>
              <a:rPr lang="en-US" sz="900" b="1" dirty="0">
                <a:solidFill>
                  <a:srgbClr val="3FB950"/>
                </a:solidFill>
                <a:latin typeface="Calibri" pitchFamily="34" charset="0"/>
                <a:ea typeface="Calibri" pitchFamily="34" charset="-122"/>
                <a:cs typeface="Calibri" pitchFamily="34" charset="-120"/>
              </a:rPr>
              <a:t>Role of layer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Project Structure</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Verified against the repository. Each module has one responsibility.</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6</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154680"/>
        </p:xfrm>
        <a:graphic>
          <a:graphicData uri="http://schemas.openxmlformats.org/drawingml/2006/table">
            <a:tbl>
              <a:tblPr/>
              <a:tblGrid>
                <a:gridCol w="17373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274320">
                <a:tc>
                  <a:txBody>
                    <a:bodyPr/>
                    <a:lstStyle/>
                    <a:p>
                      <a:pPr marL="0" indent="0">
                        <a:buNone/>
                      </a:pPr>
                      <a:r>
                        <a:rPr lang="en-US" sz="1000" b="1" dirty="0">
                          <a:solidFill>
                            <a:srgbClr val="3FB950"/>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marL="0" indent="0">
                        <a:buNone/>
                      </a:pPr>
                      <a:r>
                        <a:rPr lang="en-US" sz="1000" b="1" dirty="0">
                          <a:solidFill>
                            <a:srgbClr val="3FB950"/>
                          </a:solidFill>
                          <a:latin typeface="Calibri" pitchFamily="34" charset="0"/>
                          <a:ea typeface="Calibri" pitchFamily="34" charset="-122"/>
                          <a:cs typeface="Calibri" pitchFamily="34" charset="-120"/>
                        </a:rPr>
                        <a:t>Responsibility</a:t>
                      </a:r>
                      <a:endParaRPr lang="en-US" sz="100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marL="0" indent="0">
                        <a:buNone/>
                      </a:pPr>
                      <a:r>
                        <a:rPr lang="en-US" sz="1000" b="1" dirty="0">
                          <a:solidFill>
                            <a:srgbClr val="3FB950"/>
                          </a:solidFill>
                          <a:latin typeface="Calibri" pitchFamily="34" charset="0"/>
                          <a:ea typeface="Calibri" pitchFamily="34" charset="-122"/>
                          <a:cs typeface="Calibri" pitchFamily="34" charset="-120"/>
                        </a:rPr>
                        <a:t>Key functions</a:t>
                      </a:r>
                      <a:endParaRPr lang="en-US" sz="100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extLst>
                  <a:ext uri="{0D108BD9-81ED-4DB2-BD59-A6C34878D82A}">
                    <a16:rowId xmlns:a16="http://schemas.microsoft.com/office/drawing/2014/main" val="10000"/>
                  </a:ext>
                </a:extLst>
              </a:tr>
              <a:tr h="457200">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main.c</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Program entry. Infinite menu loop; reads choice; switch dispatches to modules; option 12 exits.</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main()</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1"/>
                  </a:ext>
                </a:extLst>
              </a:tr>
              <a:tr h="411480">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explorer.c / .h</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Menu display and current working directory display.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display_menu()</a:t>
                      </a:r>
                      <a:endParaRPr lang="en-US" sz="950" dirty="0">
                        <a:latin typeface="Consolas" charset="0"/>
                        <a:ea typeface="Consolas" charset="0"/>
                        <a:cs typeface="Consolas" charset="0"/>
                      </a:endParaRPr>
                    </a:p>
                    <a:p>
                      <a:pPr marL="0" indent="0">
                        <a:buNone/>
                      </a:pPr>
                      <a:r>
                        <a:rPr lang="en-US" sz="950" dirty="0">
                          <a:solidFill>
                            <a:srgbClr val="58A6FF"/>
                          </a:solidFill>
                          <a:latin typeface="Consolas" pitchFamily="34" charset="0"/>
                          <a:ea typeface="Consolas" pitchFamily="34" charset="-122"/>
                          <a:cs typeface="Consolas" pitchFamily="34" charset="-120"/>
                        </a:rPr>
                        <a:t>show_current_directory()</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2"/>
                  </a:ext>
                </a:extLst>
              </a:tr>
              <a:tr h="594360">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directory.c / .h</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Directory listing, navigation, creation and removal.</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list_directory() change_directory()</a:t>
                      </a:r>
                      <a:endParaRPr lang="en-US" sz="950" dirty="0">
                        <a:latin typeface="Consolas" charset="0"/>
                        <a:ea typeface="Consolas" charset="0"/>
                        <a:cs typeface="Consolas" charset="0"/>
                      </a:endParaRPr>
                    </a:p>
                    <a:p>
                      <a:pPr marL="0" indent="0">
                        <a:buNone/>
                      </a:pPr>
                      <a:r>
                        <a:rPr lang="en-US" sz="950" dirty="0">
                          <a:solidFill>
                            <a:srgbClr val="58A6FF"/>
                          </a:solidFill>
                          <a:latin typeface="Consolas" pitchFamily="34" charset="0"/>
                          <a:ea typeface="Consolas" pitchFamily="34" charset="-122"/>
                          <a:cs typeface="Consolas" pitchFamily="34" charset="-120"/>
                        </a:rPr>
                        <a:t>parent_directory() create_directory()</a:t>
                      </a:r>
                      <a:endParaRPr lang="en-US" sz="950" dirty="0">
                        <a:latin typeface="Consolas" charset="0"/>
                        <a:ea typeface="Consolas" charset="0"/>
                        <a:cs typeface="Consolas" charset="0"/>
                      </a:endParaRPr>
                    </a:p>
                    <a:p>
                      <a:pPr marL="0" indent="0">
                        <a:buNone/>
                      </a:pPr>
                      <a:r>
                        <a:rPr lang="en-US" sz="950" dirty="0">
                          <a:solidFill>
                            <a:srgbClr val="58A6FF"/>
                          </a:solidFill>
                          <a:latin typeface="Consolas" pitchFamily="34" charset="0"/>
                          <a:ea typeface="Consolas" pitchFamily="34" charset="-122"/>
                          <a:cs typeface="Consolas" pitchFamily="34" charset="-120"/>
                        </a:rPr>
                        <a:t>delete_directory()</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3"/>
                  </a:ext>
                </a:extLst>
              </a:tr>
              <a:tr h="594360">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file_operations.c / .h</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Metadata, reading, creating, deleting and renaming files.</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file_information() read_file()</a:t>
                      </a:r>
                      <a:endParaRPr lang="en-US" sz="950" dirty="0">
                        <a:latin typeface="Consolas" charset="0"/>
                        <a:ea typeface="Consolas" charset="0"/>
                        <a:cs typeface="Consolas" charset="0"/>
                      </a:endParaRPr>
                    </a:p>
                    <a:p>
                      <a:pPr marL="0" indent="0">
                        <a:buNone/>
                      </a:pPr>
                      <a:r>
                        <a:rPr lang="en-US" sz="950" dirty="0">
                          <a:solidFill>
                            <a:srgbClr val="58A6FF"/>
                          </a:solidFill>
                          <a:latin typeface="Consolas" pitchFamily="34" charset="0"/>
                          <a:ea typeface="Consolas" pitchFamily="34" charset="-122"/>
                          <a:cs typeface="Consolas" pitchFamily="34" charset="-120"/>
                        </a:rPr>
                        <a:t>create_file() delete_file()</a:t>
                      </a:r>
                      <a:endParaRPr lang="en-US" sz="950" dirty="0">
                        <a:latin typeface="Consolas" charset="0"/>
                        <a:ea typeface="Consolas" charset="0"/>
                        <a:cs typeface="Consolas" charset="0"/>
                      </a:endParaRPr>
                    </a:p>
                    <a:p>
                      <a:pPr marL="0" indent="0">
                        <a:buNone/>
                      </a:pPr>
                      <a:r>
                        <a:rPr lang="en-US" sz="950" dirty="0">
                          <a:solidFill>
                            <a:srgbClr val="58A6FF"/>
                          </a:solidFill>
                          <a:latin typeface="Consolas" pitchFamily="34" charset="0"/>
                          <a:ea typeface="Consolas" pitchFamily="34" charset="-122"/>
                          <a:cs typeface="Consolas" pitchFamily="34" charset="-120"/>
                        </a:rPr>
                        <a:t>rename_item()</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4"/>
                  </a:ext>
                </a:extLst>
              </a:tr>
              <a:tr h="457200">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search.c / .h</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Recursive name search starting at the current 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search()</a:t>
                      </a:r>
                      <a:endParaRPr lang="en-US" sz="950" dirty="0">
                        <a:latin typeface="Consolas" charset="0"/>
                        <a:ea typeface="Consolas" charset="0"/>
                        <a:cs typeface="Consolas" charset="0"/>
                      </a:endParaRPr>
                    </a:p>
                    <a:p>
                      <a:pPr marL="0" indent="0">
                        <a:buNone/>
                      </a:pPr>
                      <a:r>
                        <a:rPr lang="en-US" sz="950" dirty="0">
                          <a:solidFill>
                            <a:srgbClr val="58A6FF"/>
                          </a:solidFill>
                          <a:latin typeface="Consolas" pitchFamily="34" charset="0"/>
                          <a:ea typeface="Consolas" pitchFamily="34" charset="-122"/>
                          <a:cs typeface="Consolas" pitchFamily="34" charset="-120"/>
                        </a:rPr>
                        <a:t>search_directory() [static]</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5"/>
                  </a:ext>
                </a:extLst>
              </a:tr>
              <a:tr h="365760">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Makefile</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Builds 5 objects into ./explorer; make clean removes them.</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gcc -Wall -Wextra -std=c11</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6"/>
                  </a:ext>
                </a:extLst>
              </a:tr>
            </a:tbl>
          </a:graphicData>
        </a:graphic>
      </p:graphicFrame>
      <p:sp>
        <p:nvSpPr>
          <p:cNvPr id="8" name="Text 4"/>
          <p:cNvSpPr txBox="1"/>
          <p:nvPr/>
        </p:nvSpPr>
        <p:spPr>
          <a:xfrm>
            <a:off x="457200" y="4526280"/>
            <a:ext cx="8229600" cy="228600"/>
          </a:xfrm>
          <a:prstGeom prst="rect">
            <a:avLst/>
          </a:prstGeom>
          <a:noFill/>
          <a:ln/>
        </p:spPr>
        <p:txBody>
          <a:bodyPr wrap="square" lIns="0" tIns="0" rIns="0" bIns="0" rtlCol="0" anchor="t"/>
          <a:lstStyle/>
          <a:p>
            <a:pPr marL="0" indent="0">
              <a:buNone/>
            </a:pPr>
            <a:r>
              <a:rPr lang="en-US" sz="900" dirty="0">
                <a:solidFill>
                  <a:srgbClr val="9DA7B3"/>
                </a:solidFill>
                <a:latin typeface="Calibri" pitchFamily="34" charset="0"/>
                <a:ea typeface="Calibri" pitchFamily="34" charset="-122"/>
                <a:cs typeface="Calibri" pitchFamily="34" charset="-120"/>
              </a:rPr>
              <a:t>Also in repo: README.md, Module Description, Program Output, sample output, Advantages and Disadvantages, project .docx.</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Linux System Calls Used</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7</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447288"/>
        </p:xfrm>
        <a:graphic>
          <a:graphicData uri="http://schemas.openxmlformats.org/drawingml/2006/table">
            <a:tbl>
              <a:tblPr/>
              <a:tblGrid>
                <a:gridCol w="1371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265176">
                <a:tc>
                  <a:txBody>
                    <a:bodyPr/>
                    <a:lstStyle/>
                    <a:p>
                      <a:pPr marL="0" indent="0">
                        <a:buNone/>
                      </a:pPr>
                      <a:r>
                        <a:rPr lang="en-US" sz="1000" b="1" dirty="0">
                          <a:solidFill>
                            <a:srgbClr val="3FB950"/>
                          </a:solidFill>
                        </a:rPr>
                        <a:t>System call</a:t>
                      </a:r>
                      <a:endParaRPr lang="en-US" sz="1000" dirty="0"/>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marL="0" indent="0">
                        <a:buNone/>
                      </a:pPr>
                      <a:r>
                        <a:rPr lang="en-US" sz="1000" b="1" dirty="0">
                          <a:solidFill>
                            <a:srgbClr val="3FB950"/>
                          </a:solidFill>
                        </a:rPr>
                        <a:t>Purpose</a:t>
                      </a:r>
                      <a:endParaRPr lang="en-US" sz="1000" dirty="0"/>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marL="0" indent="0">
                        <a:buNone/>
                      </a:pPr>
                      <a:r>
                        <a:rPr lang="en-US" sz="1000" b="1" dirty="0">
                          <a:solidFill>
                            <a:srgbClr val="3FB950"/>
                          </a:solidFill>
                        </a:rPr>
                        <a:t>Used in</a:t>
                      </a:r>
                      <a:endParaRPr lang="en-US" sz="1000" dirty="0"/>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extLst>
                  <a:ext uri="{0D108BD9-81ED-4DB2-BD59-A6C34878D82A}">
                    <a16:rowId xmlns:a16="http://schemas.microsoft.com/office/drawing/2014/main" val="10000"/>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open()</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Opens files and directories</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read_file, create_file, list_directory, search</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1"/>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read()</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Reads bytes from a descriptor</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read_file</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2"/>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write()</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Writes file data to stdout (fd 1)</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read_file</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3"/>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close()</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Releases a file descriptor</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file, directory, search functions</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4"/>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getcwd()</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Current working 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show_current_directory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5"/>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chdir()</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Changes directory (path or "..")</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change_directory, parent_directory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6"/>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stat()</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Retrieves inode metadata</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file_information</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7"/>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mkdir()</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Creates directory (mode 0755)</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create_directory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8"/>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rmdir()</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Removes an empty 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delete_directory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9"/>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unlink()</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Deletes a file name</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delete_file</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10"/>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rename()</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Renames a file or 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rename_item</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11"/>
                  </a:ext>
                </a:extLst>
              </a:tr>
              <a:tr h="265176">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getdents64</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Reads directory entries (raw syscall())</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list_directory, search_directory</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12"/>
                  </a:ext>
                </a:extLst>
              </a:tr>
            </a:tbl>
          </a:graphicData>
        </a:graphic>
      </p:graphicFrame>
      <p:sp>
        <p:nvSpPr>
          <p:cNvPr id="6" name="Text 4"/>
          <p:cNvSpPr txBox="1"/>
          <p:nvPr/>
        </p:nvSpPr>
        <p:spPr>
          <a:xfrm>
            <a:off x="457200" y="4526280"/>
            <a:ext cx="8229600" cy="274320"/>
          </a:xfrm>
          <a:prstGeom prst="rect">
            <a:avLst/>
          </a:prstGeom>
          <a:noFill/>
          <a:ln/>
        </p:spPr>
        <p:txBody>
          <a:bodyPr wrap="square" lIns="0" tIns="0" rIns="0" bIns="0" rtlCol="0" anchor="t"/>
          <a:lstStyle/>
          <a:p>
            <a:pPr marL="0" indent="0">
              <a:buNone/>
            </a:pPr>
            <a:r>
              <a:rPr lang="en-US" sz="900" dirty="0">
                <a:solidFill>
                  <a:srgbClr val="E3B341"/>
                </a:solidFill>
                <a:latin typeface="Calibri" pitchFamily="34" charset="0"/>
                <a:ea typeface="Calibri" pitchFamily="34" charset="-122"/>
                <a:cs typeface="Calibri" pitchFamily="34" charset="-120"/>
              </a:rPr>
              <a:t>libc (not syscalls): printf, fgets, perror, snprintf, strcmp, strcspn, atoi, ctime.  getdents64 is called via syscall(SYS_getdents64,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File Descriptors</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The kernel handle behind every open file.</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8</a:t>
            </a:r>
            <a:endParaRPr lang="en-US" sz="800" dirty="0"/>
          </a:p>
        </p:txBody>
      </p:sp>
      <p:sp>
        <p:nvSpPr>
          <p:cNvPr id="7" name="Text 4"/>
          <p:cNvSpPr/>
          <p:nvPr/>
        </p:nvSpPr>
        <p:spPr>
          <a:xfrm>
            <a:off x="457200" y="1097280"/>
            <a:ext cx="1371600" cy="502920"/>
          </a:xfrm>
          <a:prstGeom prst="roundRect">
            <a:avLst>
              <a:gd name="adj" fmla="val 10909"/>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Application</a:t>
            </a:r>
            <a:endParaRPr lang="en-US" sz="1100" dirty="0"/>
          </a:p>
        </p:txBody>
      </p:sp>
      <p:sp>
        <p:nvSpPr>
          <p:cNvPr id="8" name="Text 5"/>
          <p:cNvSpPr txBox="1"/>
          <p:nvPr/>
        </p:nvSpPr>
        <p:spPr>
          <a:xfrm>
            <a:off x="1828800" y="1234440"/>
            <a:ext cx="32004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9" name="Text 6"/>
          <p:cNvSpPr/>
          <p:nvPr/>
        </p:nvSpPr>
        <p:spPr>
          <a:xfrm>
            <a:off x="2148840" y="1097280"/>
            <a:ext cx="1371600" cy="502920"/>
          </a:xfrm>
          <a:prstGeom prst="roundRect">
            <a:avLst>
              <a:gd name="adj" fmla="val 10909"/>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onsolas" pitchFamily="34" charset="0"/>
                <a:ea typeface="Consolas" pitchFamily="34" charset="-122"/>
                <a:cs typeface="Consolas" pitchFamily="34" charset="-120"/>
              </a:rPr>
              <a:t>open()</a:t>
            </a:r>
            <a:endParaRPr lang="en-US" sz="1100" dirty="0"/>
          </a:p>
        </p:txBody>
      </p:sp>
      <p:sp>
        <p:nvSpPr>
          <p:cNvPr id="10" name="Text 7"/>
          <p:cNvSpPr txBox="1"/>
          <p:nvPr/>
        </p:nvSpPr>
        <p:spPr>
          <a:xfrm>
            <a:off x="3520440" y="1234440"/>
            <a:ext cx="32004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1" name="Text 8"/>
          <p:cNvSpPr/>
          <p:nvPr/>
        </p:nvSpPr>
        <p:spPr>
          <a:xfrm>
            <a:off x="3840480" y="1097280"/>
            <a:ext cx="1371600" cy="502920"/>
          </a:xfrm>
          <a:prstGeom prst="roundRect">
            <a:avLst>
              <a:gd name="adj" fmla="val 10909"/>
            </a:avLst>
          </a:prstGeom>
          <a:solidFill>
            <a:srgbClr val="161B22"/>
          </a:solidFill>
          <a:ln w="15875">
            <a:solidFill>
              <a:srgbClr val="3FB950"/>
            </a:solidFill>
          </a:ln>
        </p:spPr>
        <p:txBody>
          <a:bodyPr wrap="square" lIns="38100" tIns="38100" rIns="38100" bIns="38100" rtlCol="0" anchor="ctr"/>
          <a:lstStyle/>
          <a:p>
            <a:pPr marL="0" indent="0" algn="ctr">
              <a:buNone/>
            </a:pPr>
            <a:r>
              <a:rPr lang="en-US" sz="1100" b="1" dirty="0">
                <a:solidFill>
                  <a:srgbClr val="E6EDF3"/>
                </a:solidFill>
                <a:latin typeface="Consolas" pitchFamily="34" charset="0"/>
                <a:ea typeface="Consolas" pitchFamily="34" charset="-122"/>
                <a:cs typeface="Consolas" pitchFamily="34" charset="-120"/>
              </a:rPr>
              <a:t>fd (int)</a:t>
            </a:r>
            <a:endParaRPr lang="en-US" sz="1100" dirty="0"/>
          </a:p>
        </p:txBody>
      </p:sp>
      <p:sp>
        <p:nvSpPr>
          <p:cNvPr id="12" name="Text 9"/>
          <p:cNvSpPr txBox="1"/>
          <p:nvPr/>
        </p:nvSpPr>
        <p:spPr>
          <a:xfrm>
            <a:off x="5212080" y="1234440"/>
            <a:ext cx="32004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5532120" y="1097280"/>
            <a:ext cx="1371600" cy="502920"/>
          </a:xfrm>
          <a:prstGeom prst="roundRect">
            <a:avLst>
              <a:gd name="adj" fmla="val 10909"/>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Kernel fd table</a:t>
            </a:r>
            <a:endParaRPr lang="en-US" sz="1100" dirty="0"/>
          </a:p>
        </p:txBody>
      </p:sp>
      <p:sp>
        <p:nvSpPr>
          <p:cNvPr id="14" name="Text 11"/>
          <p:cNvSpPr txBox="1"/>
          <p:nvPr/>
        </p:nvSpPr>
        <p:spPr>
          <a:xfrm>
            <a:off x="6903720" y="1234440"/>
            <a:ext cx="32004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7223760" y="1097280"/>
            <a:ext cx="1371600" cy="502920"/>
          </a:xfrm>
          <a:prstGeom prst="roundRect">
            <a:avLst>
              <a:gd name="adj" fmla="val 10909"/>
            </a:avLst>
          </a:prstGeom>
          <a:solidFill>
            <a:srgbClr val="161B22"/>
          </a:solidFill>
          <a:ln w="15875">
            <a:solidFill>
              <a:srgbClr val="58A6FF"/>
            </a:solidFill>
          </a:ln>
        </p:spPr>
        <p:txBody>
          <a:bodyPr wrap="square" lIns="38100" tIns="38100" rIns="38100" bIns="38100" rtlCol="0" anchor="ctr"/>
          <a:lstStyle/>
          <a:p>
            <a:pPr marL="0" indent="0" algn="ctr">
              <a:buNone/>
            </a:pPr>
            <a:r>
              <a:rPr lang="en-US" sz="1100" b="1" dirty="0">
                <a:solidFill>
                  <a:srgbClr val="E6EDF3"/>
                </a:solidFill>
                <a:latin typeface="Calibri" pitchFamily="34" charset="0"/>
                <a:ea typeface="Calibri" pitchFamily="34" charset="-122"/>
                <a:cs typeface="Calibri" pitchFamily="34" charset="-120"/>
              </a:rPr>
              <a:t>File</a:t>
            </a:r>
            <a:endParaRPr lang="en-US" sz="1100" dirty="0"/>
          </a:p>
        </p:txBody>
      </p:sp>
      <p:sp>
        <p:nvSpPr>
          <p:cNvPr id="16" name="Shape 13"/>
          <p:cNvSpPr/>
          <p:nvPr/>
        </p:nvSpPr>
        <p:spPr>
          <a:xfrm>
            <a:off x="457200" y="1874520"/>
            <a:ext cx="3291840" cy="2651760"/>
          </a:xfrm>
          <a:prstGeom prst="roundRect">
            <a:avLst>
              <a:gd name="adj" fmla="val 2069"/>
            </a:avLst>
          </a:prstGeom>
          <a:solidFill>
            <a:srgbClr val="161B22"/>
          </a:solidFill>
          <a:ln w="12700">
            <a:solidFill>
              <a:srgbClr val="30363D"/>
            </a:solidFill>
            <a:prstDash val="solid"/>
          </a:ln>
        </p:spPr>
      </p:sp>
      <p:sp>
        <p:nvSpPr>
          <p:cNvPr id="17" name="Text 14"/>
          <p:cNvSpPr txBox="1"/>
          <p:nvPr/>
        </p:nvSpPr>
        <p:spPr>
          <a:xfrm>
            <a:off x="640080" y="1965960"/>
            <a:ext cx="2926080" cy="274320"/>
          </a:xfrm>
          <a:prstGeom prst="rect">
            <a:avLst/>
          </a:prstGeom>
          <a:noFill/>
          <a:ln/>
        </p:spPr>
        <p:txBody>
          <a:bodyPr wrap="square" lIns="0" tIns="0" rIns="0" bIns="0" rtlCol="0" anchor="t"/>
          <a:lstStyle/>
          <a:p>
            <a:pPr marL="0" indent="0">
              <a:buNone/>
            </a:pPr>
            <a:r>
              <a:rPr lang="en-US" sz="1300" b="1" dirty="0">
                <a:solidFill>
                  <a:srgbClr val="3FB950"/>
                </a:solidFill>
                <a:latin typeface="Calibri" pitchFamily="34" charset="0"/>
                <a:ea typeface="Calibri" pitchFamily="34" charset="-122"/>
                <a:cs typeface="Calibri" pitchFamily="34" charset="-120"/>
              </a:rPr>
              <a:t>Standard descriptors</a:t>
            </a:r>
            <a:endParaRPr lang="en-US" sz="1300" dirty="0"/>
          </a:p>
        </p:txBody>
      </p:sp>
      <p:sp>
        <p:nvSpPr>
          <p:cNvPr id="18" name="Text 15"/>
          <p:cNvSpPr txBox="1"/>
          <p:nvPr/>
        </p:nvSpPr>
        <p:spPr>
          <a:xfrm>
            <a:off x="640080" y="2331720"/>
            <a:ext cx="2926080" cy="822960"/>
          </a:xfrm>
          <a:prstGeom prst="rect">
            <a:avLst/>
          </a:prstGeom>
          <a:noFill/>
          <a:ln/>
        </p:spPr>
        <p:txBody>
          <a:bodyPr wrap="square" lIns="0" tIns="0" rIns="0" bIns="0" rtlCol="0" anchor="t"/>
          <a:lstStyle/>
          <a:p>
            <a:pPr marL="0" indent="0">
              <a:spcAft>
                <a:spcPts val="400"/>
              </a:spcAft>
              <a:buNone/>
            </a:pPr>
            <a:r>
              <a:rPr lang="en-US" sz="1200" dirty="0">
                <a:solidFill>
                  <a:srgbClr val="E6EDF3"/>
                </a:solidFill>
                <a:latin typeface="Consolas" pitchFamily="34" charset="0"/>
                <a:ea typeface="Consolas" pitchFamily="34" charset="-122"/>
                <a:cs typeface="Consolas" pitchFamily="34" charset="-120"/>
              </a:rPr>
              <a:t>0  stdin</a:t>
            </a:r>
            <a:endParaRPr lang="en-US" sz="1200" dirty="0"/>
          </a:p>
          <a:p>
            <a:pPr marL="0" indent="0">
              <a:spcAft>
                <a:spcPts val="400"/>
              </a:spcAft>
              <a:buNone/>
            </a:pPr>
            <a:r>
              <a:rPr lang="en-US" sz="1200" dirty="0">
                <a:solidFill>
                  <a:srgbClr val="E6EDF3"/>
                </a:solidFill>
                <a:latin typeface="Consolas" pitchFamily="34" charset="0"/>
                <a:ea typeface="Consolas" pitchFamily="34" charset="-122"/>
                <a:cs typeface="Consolas" pitchFamily="34" charset="-120"/>
              </a:rPr>
              <a:t>1  stdout   ← STDOUT_FILENO</a:t>
            </a:r>
            <a:endParaRPr lang="en-US" sz="1200" dirty="0"/>
          </a:p>
          <a:p>
            <a:pPr marL="0" indent="0">
              <a:spcAft>
                <a:spcPts val="400"/>
              </a:spcAft>
              <a:buNone/>
            </a:pPr>
            <a:r>
              <a:rPr lang="en-US" sz="1200" dirty="0">
                <a:solidFill>
                  <a:srgbClr val="E6EDF3"/>
                </a:solidFill>
                <a:latin typeface="Consolas" pitchFamily="34" charset="0"/>
                <a:ea typeface="Consolas" pitchFamily="34" charset="-122"/>
                <a:cs typeface="Consolas" pitchFamily="34" charset="-120"/>
              </a:rPr>
              <a:t>2  stderr</a:t>
            </a:r>
            <a:endParaRPr lang="en-US" sz="1200" dirty="0"/>
          </a:p>
        </p:txBody>
      </p:sp>
      <p:sp>
        <p:nvSpPr>
          <p:cNvPr id="19" name="Text 16"/>
          <p:cNvSpPr txBox="1"/>
          <p:nvPr/>
        </p:nvSpPr>
        <p:spPr>
          <a:xfrm>
            <a:off x="640080" y="3291840"/>
            <a:ext cx="2926080" cy="1097280"/>
          </a:xfrm>
          <a:prstGeom prst="rect">
            <a:avLst/>
          </a:prstGeom>
          <a:noFill/>
          <a:ln/>
        </p:spPr>
        <p:txBody>
          <a:bodyPr wrap="square" lIns="0" tIns="0" rIns="0" bIns="0" rtlCol="0" anchor="t"/>
          <a:lstStyle/>
          <a:p>
            <a:pPr marL="0" indent="0">
              <a:buNone/>
            </a:pPr>
            <a:r>
              <a:rPr lang="en-US" sz="1100" dirty="0">
                <a:solidFill>
                  <a:srgbClr val="9DA7B3"/>
                </a:solidFill>
                <a:latin typeface="Calibri" pitchFamily="34" charset="0"/>
                <a:ea typeface="Calibri" pitchFamily="34" charset="-122"/>
                <a:cs typeface="Calibri" pitchFamily="34" charset="-120"/>
              </a:rPr>
              <a:t>An integer, not a pointer: the kernel keeps the real object and the process only holds an index. read(), write(), close() all take the fd.</a:t>
            </a:r>
            <a:endParaRPr lang="en-US" sz="1100" dirty="0"/>
          </a:p>
        </p:txBody>
      </p:sp>
      <p:sp>
        <p:nvSpPr>
          <p:cNvPr id="20" name="Text 17"/>
          <p:cNvSpPr txBox="1"/>
          <p:nvPr/>
        </p:nvSpPr>
        <p:spPr>
          <a:xfrm>
            <a:off x="3977640" y="1874520"/>
            <a:ext cx="4572000" cy="228600"/>
          </a:xfrm>
          <a:prstGeom prst="rect">
            <a:avLst/>
          </a:prstGeom>
          <a:noFill/>
          <a:ln/>
        </p:spPr>
        <p:txBody>
          <a:bodyPr wrap="square" lIns="0" tIns="0" rIns="0" bIns="0" rtlCol="0" anchor="t"/>
          <a:lstStyle/>
          <a:p>
            <a:pPr marL="0" indent="0">
              <a:buNone/>
            </a:pPr>
            <a:r>
              <a:rPr lang="en-US" sz="900" dirty="0">
                <a:solidFill>
                  <a:srgbClr val="9DA7B3"/>
                </a:solidFill>
                <a:latin typeface="Consolas" pitchFamily="34" charset="0"/>
                <a:ea typeface="Consolas" pitchFamily="34" charset="-122"/>
                <a:cs typeface="Consolas" pitchFamily="34" charset="-120"/>
              </a:rPr>
              <a:t>file_operations.c → read_file()</a:t>
            </a:r>
            <a:endParaRPr lang="en-US" sz="900" dirty="0"/>
          </a:p>
        </p:txBody>
      </p:sp>
      <p:sp>
        <p:nvSpPr>
          <p:cNvPr id="21" name="Shape 18"/>
          <p:cNvSpPr/>
          <p:nvPr/>
        </p:nvSpPr>
        <p:spPr>
          <a:xfrm>
            <a:off x="3977640" y="2148840"/>
            <a:ext cx="4709160" cy="2377440"/>
          </a:xfrm>
          <a:prstGeom prst="roundRect">
            <a:avLst>
              <a:gd name="adj" fmla="val 1923"/>
            </a:avLst>
          </a:prstGeom>
          <a:solidFill>
            <a:srgbClr val="010409"/>
          </a:solidFill>
          <a:ln w="12700">
            <a:solidFill>
              <a:srgbClr val="30363D"/>
            </a:solidFill>
            <a:prstDash val="solid"/>
          </a:ln>
        </p:spPr>
      </p:sp>
      <p:sp>
        <p:nvSpPr>
          <p:cNvPr id="22" name="Text 19"/>
          <p:cNvSpPr txBox="1"/>
          <p:nvPr/>
        </p:nvSpPr>
        <p:spPr>
          <a:xfrm>
            <a:off x="4087368" y="2240280"/>
            <a:ext cx="4489704" cy="2194560"/>
          </a:xfrm>
          <a:prstGeom prst="rect">
            <a:avLst/>
          </a:prstGeom>
          <a:noFill/>
          <a:ln/>
        </p:spPr>
        <p:txBody>
          <a:bodyPr wrap="square" lIns="0" tIns="0" rIns="0" bIns="0" rtlCol="0" anchor="t"/>
          <a:lstStyle/>
          <a:p>
            <a:pPr marL="0" indent="0">
              <a:buNone/>
            </a:pPr>
            <a:r>
              <a:rPr lang="en-US" sz="1000" dirty="0">
                <a:solidFill>
                  <a:srgbClr val="C9D1D9"/>
                </a:solidFill>
                <a:latin typeface="Consolas" pitchFamily="34" charset="0"/>
                <a:ea typeface="Consolas" pitchFamily="34" charset="-122"/>
                <a:cs typeface="Consolas" pitchFamily="34" charset="-120"/>
              </a:rPr>
              <a:t>int fd = open(filename, O_RDONLY);</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if (fd == -1)</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perror("open");</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return;</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a:t>
            </a:r>
            <a:endParaRPr lang="en-US" sz="1000" dirty="0"/>
          </a:p>
          <a:p>
            <a:pPr marL="0" indent="0">
              <a:buNone/>
            </a:pP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while ((bytes_read =</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read(fd, buffer, sizeof(buffer))) &gt; 0)</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write(STDOUT_FILENO, buffer, bytes_read);</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a:t>
            </a:r>
            <a:endParaRPr lang="en-US" sz="1000" dirty="0"/>
          </a:p>
          <a:p>
            <a:pPr marL="0" indent="0">
              <a:buNone/>
            </a:pP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close(fd);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Directory Exploration</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list_directory() reads raw directory records with getdents64.</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9</a:t>
            </a:r>
            <a:endParaRPr lang="en-US" sz="800" dirty="0"/>
          </a:p>
        </p:txBody>
      </p:sp>
      <p:sp>
        <p:nvSpPr>
          <p:cNvPr id="7" name="Text 4"/>
          <p:cNvSpPr/>
          <p:nvPr/>
        </p:nvSpPr>
        <p:spPr>
          <a:xfrm>
            <a:off x="457200" y="1097280"/>
            <a:ext cx="1371600" cy="457200"/>
          </a:xfrm>
          <a:prstGeom prst="roundRect">
            <a:avLst>
              <a:gd name="adj" fmla="val 12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000" b="1" dirty="0">
                <a:solidFill>
                  <a:srgbClr val="E6EDF3"/>
                </a:solidFill>
                <a:latin typeface="Calibri" pitchFamily="34" charset="0"/>
                <a:ea typeface="Calibri" pitchFamily="34" charset="-122"/>
                <a:cs typeface="Calibri" pitchFamily="34" charset="-120"/>
              </a:rPr>
              <a:t>Current dir "."</a:t>
            </a:r>
            <a:endParaRPr lang="en-US" sz="1000" dirty="0"/>
          </a:p>
        </p:txBody>
      </p:sp>
      <p:sp>
        <p:nvSpPr>
          <p:cNvPr id="8" name="Text 5"/>
          <p:cNvSpPr txBox="1"/>
          <p:nvPr/>
        </p:nvSpPr>
        <p:spPr>
          <a:xfrm>
            <a:off x="1828800" y="1197864"/>
            <a:ext cx="32004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9" name="Text 6"/>
          <p:cNvSpPr/>
          <p:nvPr/>
        </p:nvSpPr>
        <p:spPr>
          <a:xfrm>
            <a:off x="2148840" y="1097280"/>
            <a:ext cx="1371600" cy="457200"/>
          </a:xfrm>
          <a:prstGeom prst="roundRect">
            <a:avLst>
              <a:gd name="adj" fmla="val 12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000" b="1" dirty="0">
                <a:solidFill>
                  <a:srgbClr val="E6EDF3"/>
                </a:solidFill>
                <a:latin typeface="Calibri" pitchFamily="34" charset="0"/>
                <a:ea typeface="Calibri" pitchFamily="34" charset="-122"/>
                <a:cs typeface="Calibri" pitchFamily="34" charset="-120"/>
              </a:rPr>
              <a:t>open(O_DIRECTORY)</a:t>
            </a:r>
            <a:endParaRPr lang="en-US" sz="1000" dirty="0"/>
          </a:p>
        </p:txBody>
      </p:sp>
      <p:sp>
        <p:nvSpPr>
          <p:cNvPr id="10" name="Text 7"/>
          <p:cNvSpPr txBox="1"/>
          <p:nvPr/>
        </p:nvSpPr>
        <p:spPr>
          <a:xfrm>
            <a:off x="3520440" y="1197864"/>
            <a:ext cx="32004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1" name="Text 8"/>
          <p:cNvSpPr/>
          <p:nvPr/>
        </p:nvSpPr>
        <p:spPr>
          <a:xfrm>
            <a:off x="3840480" y="1097280"/>
            <a:ext cx="1371600" cy="457200"/>
          </a:xfrm>
          <a:prstGeom prst="roundRect">
            <a:avLst>
              <a:gd name="adj" fmla="val 12000"/>
            </a:avLst>
          </a:prstGeom>
          <a:solidFill>
            <a:srgbClr val="161B22"/>
          </a:solidFill>
          <a:ln w="15875">
            <a:solidFill>
              <a:srgbClr val="3FB950"/>
            </a:solidFill>
          </a:ln>
        </p:spPr>
        <p:txBody>
          <a:bodyPr wrap="square" lIns="38100" tIns="38100" rIns="38100" bIns="38100" rtlCol="0" anchor="ctr"/>
          <a:lstStyle/>
          <a:p>
            <a:pPr marL="0" indent="0" algn="ctr">
              <a:buNone/>
            </a:pPr>
            <a:r>
              <a:rPr lang="en-US" sz="1000" b="1" dirty="0">
                <a:solidFill>
                  <a:srgbClr val="E6EDF3"/>
                </a:solidFill>
                <a:latin typeface="Calibri" pitchFamily="34" charset="0"/>
                <a:ea typeface="Calibri" pitchFamily="34" charset="-122"/>
                <a:cs typeface="Calibri" pitchFamily="34" charset="-120"/>
              </a:rPr>
              <a:t>getdents64()</a:t>
            </a:r>
            <a:endParaRPr lang="en-US" sz="1000" dirty="0"/>
          </a:p>
        </p:txBody>
      </p:sp>
      <p:sp>
        <p:nvSpPr>
          <p:cNvPr id="12" name="Text 9"/>
          <p:cNvSpPr txBox="1"/>
          <p:nvPr/>
        </p:nvSpPr>
        <p:spPr>
          <a:xfrm>
            <a:off x="5212080" y="1197864"/>
            <a:ext cx="32004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5532120" y="1097280"/>
            <a:ext cx="1371600" cy="457200"/>
          </a:xfrm>
          <a:prstGeom prst="roundRect">
            <a:avLst>
              <a:gd name="adj" fmla="val 12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000" b="1" dirty="0">
                <a:solidFill>
                  <a:srgbClr val="E6EDF3"/>
                </a:solidFill>
                <a:latin typeface="Calibri" pitchFamily="34" charset="0"/>
                <a:ea typeface="Calibri" pitchFamily="34" charset="-122"/>
                <a:cs typeface="Calibri" pitchFamily="34" charset="-120"/>
              </a:rPr>
              <a:t>Check d_type</a:t>
            </a:r>
            <a:endParaRPr lang="en-US" sz="1000" dirty="0"/>
          </a:p>
        </p:txBody>
      </p:sp>
      <p:sp>
        <p:nvSpPr>
          <p:cNvPr id="14" name="Text 11"/>
          <p:cNvSpPr txBox="1"/>
          <p:nvPr/>
        </p:nvSpPr>
        <p:spPr>
          <a:xfrm>
            <a:off x="6903720" y="1197864"/>
            <a:ext cx="32004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7223760" y="1097280"/>
            <a:ext cx="1371600" cy="457200"/>
          </a:xfrm>
          <a:prstGeom prst="roundRect">
            <a:avLst>
              <a:gd name="adj" fmla="val 12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1000" b="1" dirty="0">
                <a:solidFill>
                  <a:srgbClr val="E6EDF3"/>
                </a:solidFill>
                <a:latin typeface="Calibri" pitchFamily="34" charset="0"/>
                <a:ea typeface="Calibri" pitchFamily="34" charset="-122"/>
                <a:cs typeface="Calibri" pitchFamily="34" charset="-120"/>
              </a:rPr>
              <a:t>Print entries</a:t>
            </a:r>
            <a:endParaRPr lang="en-US" sz="1000" dirty="0"/>
          </a:p>
        </p:txBody>
      </p:sp>
      <p:sp>
        <p:nvSpPr>
          <p:cNvPr id="16" name="Text 13"/>
          <p:cNvSpPr txBox="1"/>
          <p:nvPr/>
        </p:nvSpPr>
        <p:spPr>
          <a:xfrm>
            <a:off x="457200" y="1737360"/>
            <a:ext cx="4114800" cy="228600"/>
          </a:xfrm>
          <a:prstGeom prst="rect">
            <a:avLst/>
          </a:prstGeom>
          <a:noFill/>
          <a:ln/>
        </p:spPr>
        <p:txBody>
          <a:bodyPr wrap="square" lIns="0" tIns="0" rIns="0" bIns="0" rtlCol="0" anchor="t"/>
          <a:lstStyle/>
          <a:p>
            <a:pPr marL="0" indent="0">
              <a:buNone/>
            </a:pPr>
            <a:r>
              <a:rPr lang="en-US" sz="900" dirty="0">
                <a:solidFill>
                  <a:srgbClr val="9DA7B3"/>
                </a:solidFill>
                <a:latin typeface="Consolas" pitchFamily="34" charset="0"/>
                <a:ea typeface="Consolas" pitchFamily="34" charset="-122"/>
                <a:cs typeface="Consolas" pitchFamily="34" charset="-120"/>
              </a:rPr>
              <a:t>directory.c → list_directory()</a:t>
            </a:r>
            <a:endParaRPr lang="en-US" sz="900" dirty="0"/>
          </a:p>
        </p:txBody>
      </p:sp>
      <p:sp>
        <p:nvSpPr>
          <p:cNvPr id="17" name="Shape 14"/>
          <p:cNvSpPr/>
          <p:nvPr/>
        </p:nvSpPr>
        <p:spPr>
          <a:xfrm>
            <a:off x="457200" y="1993392"/>
            <a:ext cx="4754880" cy="2514600"/>
          </a:xfrm>
          <a:prstGeom prst="roundRect">
            <a:avLst>
              <a:gd name="adj" fmla="val 1818"/>
            </a:avLst>
          </a:prstGeom>
          <a:solidFill>
            <a:srgbClr val="010409"/>
          </a:solidFill>
          <a:ln w="12700">
            <a:solidFill>
              <a:srgbClr val="30363D"/>
            </a:solidFill>
            <a:prstDash val="solid"/>
          </a:ln>
        </p:spPr>
      </p:sp>
      <p:sp>
        <p:nvSpPr>
          <p:cNvPr id="18" name="Text 15"/>
          <p:cNvSpPr txBox="1"/>
          <p:nvPr/>
        </p:nvSpPr>
        <p:spPr>
          <a:xfrm>
            <a:off x="566928" y="2084832"/>
            <a:ext cx="4535424" cy="2331720"/>
          </a:xfrm>
          <a:prstGeom prst="rect">
            <a:avLst/>
          </a:prstGeom>
          <a:noFill/>
          <a:ln/>
        </p:spPr>
        <p:txBody>
          <a:bodyPr wrap="square" lIns="0" tIns="0" rIns="0" bIns="0" rtlCol="0" anchor="t"/>
          <a:lstStyle/>
          <a:p>
            <a:pPr marL="0" indent="0">
              <a:buNone/>
            </a:pPr>
            <a:r>
              <a:rPr lang="en-US" sz="900" dirty="0">
                <a:solidFill>
                  <a:srgbClr val="C9D1D9"/>
                </a:solidFill>
                <a:latin typeface="Consolas" pitchFamily="34" charset="0"/>
                <a:ea typeface="Consolas" pitchFamily="34" charset="-122"/>
                <a:cs typeface="Consolas" pitchFamily="34" charset="-120"/>
              </a:rPr>
              <a:t>fd = open(".", O_RDONLY | O_DIRECTORY);</a:t>
            </a:r>
            <a:endParaRPr lang="en-US" sz="900" dirty="0"/>
          </a:p>
          <a:p>
            <a:pPr marL="0" indent="0">
              <a:buNone/>
            </a:pP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int nread = syscall(SYS_getdents64,</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fd, buffer, BUFFER_SIZE);</a:t>
            </a:r>
            <a:endParaRPr lang="en-US" sz="900" dirty="0"/>
          </a:p>
          <a:p>
            <a:pPr marL="0" indent="0">
              <a:buNone/>
            </a:pP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while (position &lt; nread) {</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struct linux_dirent64 *entry =</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(struct linux_dirent64 *)(buffer + position);</a:t>
            </a:r>
            <a:endParaRPr lang="en-US" sz="900" dirty="0"/>
          </a:p>
          <a:p>
            <a:pPr marL="0" indent="0">
              <a:buNone/>
            </a:pP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if (entry-&gt;d_type == DT_DIR)</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printf("[DIR ] %s\n", entry-&gt;d_name);</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position += entry-&gt;d_reclen;</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a:t>
            </a:r>
            <a:endParaRPr lang="en-US" sz="900" dirty="0"/>
          </a:p>
        </p:txBody>
      </p:sp>
      <p:sp>
        <p:nvSpPr>
          <p:cNvPr id="19" name="Shape 16"/>
          <p:cNvSpPr/>
          <p:nvPr/>
        </p:nvSpPr>
        <p:spPr>
          <a:xfrm>
            <a:off x="5440680" y="1737360"/>
            <a:ext cx="3246120" cy="2770632"/>
          </a:xfrm>
          <a:prstGeom prst="roundRect">
            <a:avLst>
              <a:gd name="adj" fmla="val 1980"/>
            </a:avLst>
          </a:prstGeom>
          <a:solidFill>
            <a:srgbClr val="161B22"/>
          </a:solidFill>
          <a:ln w="12700">
            <a:solidFill>
              <a:srgbClr val="30363D"/>
            </a:solidFill>
            <a:prstDash val="solid"/>
          </a:ln>
        </p:spPr>
      </p:sp>
      <p:sp>
        <p:nvSpPr>
          <p:cNvPr id="20" name="Text 17"/>
          <p:cNvSpPr txBox="1"/>
          <p:nvPr/>
        </p:nvSpPr>
        <p:spPr>
          <a:xfrm>
            <a:off x="5577840" y="1828800"/>
            <a:ext cx="3017520" cy="274320"/>
          </a:xfrm>
          <a:prstGeom prst="rect">
            <a:avLst/>
          </a:prstGeom>
          <a:noFill/>
          <a:ln/>
        </p:spPr>
        <p:txBody>
          <a:bodyPr wrap="square" lIns="0" tIns="0" rIns="0" bIns="0" rtlCol="0" anchor="t"/>
          <a:lstStyle/>
          <a:p>
            <a:pPr marL="0" indent="0">
              <a:buNone/>
            </a:pPr>
            <a:r>
              <a:rPr lang="en-US" sz="1100" b="1" dirty="0">
                <a:solidFill>
                  <a:srgbClr val="3FB950"/>
                </a:solidFill>
                <a:latin typeface="Consolas" pitchFamily="34" charset="0"/>
                <a:ea typeface="Consolas" pitchFamily="34" charset="-122"/>
                <a:cs typeface="Consolas" pitchFamily="34" charset="-120"/>
              </a:rPr>
              <a:t>struct linux_dirent64</a:t>
            </a:r>
            <a:endParaRPr lang="en-US" sz="1100" dirty="0"/>
          </a:p>
        </p:txBody>
      </p:sp>
      <p:sp>
        <p:nvSpPr>
          <p:cNvPr id="21" name="Text 18"/>
          <p:cNvSpPr txBox="1"/>
          <p:nvPr/>
        </p:nvSpPr>
        <p:spPr>
          <a:xfrm>
            <a:off x="5577840" y="2148840"/>
            <a:ext cx="3017520" cy="1188720"/>
          </a:xfrm>
          <a:prstGeom prst="rect">
            <a:avLst/>
          </a:prstGeom>
          <a:noFill/>
          <a:ln/>
        </p:spPr>
        <p:txBody>
          <a:bodyPr wrap="square" lIns="0" tIns="0" rIns="0" bIns="0" rtlCol="0" anchor="t"/>
          <a:lstStyle/>
          <a:p>
            <a:pPr marL="0" indent="0">
              <a:buNone/>
            </a:pPr>
            <a:r>
              <a:rPr lang="en-US" sz="950" dirty="0">
                <a:solidFill>
                  <a:srgbClr val="E6EDF3"/>
                </a:solidFill>
                <a:latin typeface="Consolas" pitchFamily="34" charset="0"/>
                <a:ea typeface="Consolas" pitchFamily="34" charset="-122"/>
                <a:cs typeface="Consolas" pitchFamily="34" charset="-120"/>
              </a:rPr>
              <a:t>d_ino     inode number</a:t>
            </a:r>
            <a:endParaRPr lang="en-US" sz="950" dirty="0"/>
          </a:p>
          <a:p>
            <a:pPr marL="0" indent="0">
              <a:buNone/>
            </a:pPr>
            <a:r>
              <a:rPr lang="en-US" sz="950" dirty="0">
                <a:solidFill>
                  <a:srgbClr val="E6EDF3"/>
                </a:solidFill>
                <a:latin typeface="Consolas" pitchFamily="34" charset="0"/>
                <a:ea typeface="Consolas" pitchFamily="34" charset="-122"/>
                <a:cs typeface="Consolas" pitchFamily="34" charset="-120"/>
              </a:rPr>
              <a:t>d_off     offset to next</a:t>
            </a:r>
            <a:endParaRPr lang="en-US" sz="950" dirty="0"/>
          </a:p>
          <a:p>
            <a:pPr marL="0" indent="0">
              <a:buNone/>
            </a:pPr>
            <a:r>
              <a:rPr lang="en-US" sz="950" dirty="0">
                <a:solidFill>
                  <a:srgbClr val="E6EDF3"/>
                </a:solidFill>
                <a:latin typeface="Consolas" pitchFamily="34" charset="0"/>
                <a:ea typeface="Consolas" pitchFamily="34" charset="-122"/>
                <a:cs typeface="Consolas" pitchFamily="34" charset="-120"/>
              </a:rPr>
              <a:t>d_reclen  record length</a:t>
            </a:r>
            <a:endParaRPr lang="en-US" sz="950" dirty="0"/>
          </a:p>
          <a:p>
            <a:pPr marL="0" indent="0">
              <a:buNone/>
            </a:pPr>
            <a:r>
              <a:rPr lang="en-US" sz="950" dirty="0">
                <a:solidFill>
                  <a:srgbClr val="E6EDF3"/>
                </a:solidFill>
                <a:latin typeface="Consolas" pitchFamily="34" charset="0"/>
                <a:ea typeface="Consolas" pitchFamily="34" charset="-122"/>
                <a:cs typeface="Consolas" pitchFamily="34" charset="-120"/>
              </a:rPr>
              <a:t>d_type    DT_DIR=4, DT_REG=8</a:t>
            </a:r>
            <a:endParaRPr lang="en-US" sz="950" dirty="0"/>
          </a:p>
          <a:p>
            <a:pPr marL="0" indent="0">
              <a:buNone/>
            </a:pPr>
            <a:r>
              <a:rPr lang="en-US" sz="950" dirty="0">
                <a:solidFill>
                  <a:srgbClr val="E6EDF3"/>
                </a:solidFill>
                <a:latin typeface="Consolas" pitchFamily="34" charset="0"/>
                <a:ea typeface="Consolas" pitchFamily="34" charset="-122"/>
                <a:cs typeface="Consolas" pitchFamily="34" charset="-120"/>
              </a:rPr>
              <a:t>d_name[]  entry name</a:t>
            </a:r>
            <a:endParaRPr lang="en-US" sz="950" dirty="0"/>
          </a:p>
        </p:txBody>
      </p:sp>
      <p:sp>
        <p:nvSpPr>
          <p:cNvPr id="22" name="Text 19"/>
          <p:cNvSpPr txBox="1"/>
          <p:nvPr/>
        </p:nvSpPr>
        <p:spPr>
          <a:xfrm>
            <a:off x="5577840" y="3429000"/>
            <a:ext cx="3017520" cy="411480"/>
          </a:xfrm>
          <a:prstGeom prst="rect">
            <a:avLst/>
          </a:prstGeom>
          <a:noFill/>
          <a:ln/>
        </p:spPr>
        <p:txBody>
          <a:bodyPr wrap="square" lIns="0" tIns="0" rIns="0" bIns="0" rtlCol="0" anchor="t"/>
          <a:lstStyle/>
          <a:p>
            <a:pPr marL="0" indent="0">
              <a:buNone/>
            </a:pPr>
            <a:r>
              <a:rPr lang="en-US" sz="1000" dirty="0">
                <a:solidFill>
                  <a:srgbClr val="9DA7B3"/>
                </a:solidFill>
                <a:latin typeface="Calibri" pitchFamily="34" charset="0"/>
                <a:ea typeface="Calibri" pitchFamily="34" charset="-122"/>
                <a:cs typeface="Calibri" pitchFamily="34" charset="-120"/>
              </a:rPr>
              <a:t>Defined locally in directory.c; no glibc wrapper struct is used.</a:t>
            </a:r>
            <a:endParaRPr lang="en-US" sz="1000" dirty="0"/>
          </a:p>
        </p:txBody>
      </p:sp>
      <p:sp>
        <p:nvSpPr>
          <p:cNvPr id="23" name="Text 20"/>
          <p:cNvSpPr/>
          <p:nvPr/>
        </p:nvSpPr>
        <p:spPr>
          <a:xfrm>
            <a:off x="5577840" y="3977640"/>
            <a:ext cx="2971800" cy="237744"/>
          </a:xfrm>
          <a:prstGeom prst="roundRect">
            <a:avLst>
              <a:gd name="adj" fmla="val 50000"/>
            </a:avLst>
          </a:prstGeom>
          <a:solidFill>
            <a:srgbClr val="E3B341">
              <a:alpha val="20000"/>
            </a:srgbClr>
          </a:solidFill>
          <a:ln w="12700">
            <a:solidFill>
              <a:srgbClr val="E3B341"/>
            </a:solidFill>
          </a:ln>
        </p:spPr>
        <p:txBody>
          <a:bodyPr wrap="square" lIns="0" tIns="0" rIns="0" bIns="0" rtlCol="0" anchor="ctr"/>
          <a:lstStyle/>
          <a:p>
            <a:pPr marL="0" indent="0" algn="ctr">
              <a:buNone/>
            </a:pPr>
            <a:r>
              <a:rPr lang="en-US" sz="900" b="1" dirty="0">
                <a:solidFill>
                  <a:srgbClr val="E3B341"/>
                </a:solidFill>
                <a:latin typeface="Calibri" pitchFamily="34" charset="0"/>
                <a:ea typeface="Calibri" pitchFamily="34" charset="-122"/>
                <a:cs typeface="Calibri" pitchFamily="34" charset="-120"/>
              </a:rPr>
              <a:t>PARTIAL: one 4096-byte getdents64 call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File Metadata</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file_information() calls stat() and formats struct stat.</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10</a:t>
            </a:r>
            <a:endParaRPr lang="en-US" sz="800" dirty="0"/>
          </a:p>
        </p:txBody>
      </p:sp>
      <p:sp>
        <p:nvSpPr>
          <p:cNvPr id="7" name="Text 4"/>
          <p:cNvSpPr txBox="1"/>
          <p:nvPr/>
        </p:nvSpPr>
        <p:spPr>
          <a:xfrm>
            <a:off x="457200" y="1051560"/>
            <a:ext cx="4572000" cy="228600"/>
          </a:xfrm>
          <a:prstGeom prst="rect">
            <a:avLst/>
          </a:prstGeom>
          <a:noFill/>
          <a:ln/>
        </p:spPr>
        <p:txBody>
          <a:bodyPr wrap="square" lIns="0" tIns="0" rIns="0" bIns="0" rtlCol="0" anchor="t"/>
          <a:lstStyle/>
          <a:p>
            <a:pPr marL="0" indent="0">
              <a:buNone/>
            </a:pPr>
            <a:r>
              <a:rPr lang="en-US" sz="1000" dirty="0">
                <a:solidFill>
                  <a:srgbClr val="9DA7B3"/>
                </a:solidFill>
                <a:latin typeface="Calibri" pitchFamily="34" charset="0"/>
                <a:ea typeface="Calibri" pitchFamily="34" charset="-122"/>
                <a:cs typeface="Calibri" pitchFamily="34" charset="-120"/>
              </a:rPr>
              <a:t>Output format (values are placeholders)</a:t>
            </a:r>
            <a:endParaRPr lang="en-US" sz="1000" dirty="0"/>
          </a:p>
        </p:txBody>
      </p:sp>
      <p:sp>
        <p:nvSpPr>
          <p:cNvPr id="8" name="Shape 5"/>
          <p:cNvSpPr/>
          <p:nvPr/>
        </p:nvSpPr>
        <p:spPr>
          <a:xfrm>
            <a:off x="457200" y="1325880"/>
            <a:ext cx="4206240" cy="3154680"/>
          </a:xfrm>
          <a:prstGeom prst="roundRect">
            <a:avLst>
              <a:gd name="adj" fmla="val 1449"/>
            </a:avLst>
          </a:prstGeom>
          <a:solidFill>
            <a:srgbClr val="010409"/>
          </a:solidFill>
          <a:ln w="12700">
            <a:solidFill>
              <a:srgbClr val="30363D"/>
            </a:solidFill>
            <a:prstDash val="solid"/>
          </a:ln>
        </p:spPr>
      </p:sp>
      <p:sp>
        <p:nvSpPr>
          <p:cNvPr id="9" name="Text 6"/>
          <p:cNvSpPr txBox="1"/>
          <p:nvPr/>
        </p:nvSpPr>
        <p:spPr>
          <a:xfrm>
            <a:off x="566928" y="1417320"/>
            <a:ext cx="3986784" cy="2971800"/>
          </a:xfrm>
          <a:prstGeom prst="rect">
            <a:avLst/>
          </a:prstGeom>
          <a:noFill/>
          <a:ln/>
        </p:spPr>
        <p:txBody>
          <a:bodyPr wrap="square" lIns="0" tIns="0" rIns="0" bIns="0" rtlCol="0" anchor="t"/>
          <a:lstStyle/>
          <a:p>
            <a:pPr marL="0" indent="0">
              <a:buNone/>
            </a:pPr>
            <a:r>
              <a:rPr lang="en-US" sz="900" dirty="0">
                <a:solidFill>
                  <a:srgbClr val="C9D1D9"/>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FILE INFORMATION</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Name        : report.txt</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Size        : &lt;st_size&gt; bytes</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Inode       : &lt;st_ino&gt;</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User ID     : &lt;st_uid&gt;</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Group ID    : &lt;st_gid&gt;</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Type        : Regular File</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Permissions : rw-r--r--</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Last Modified : &lt;ctime(st_mtime)&gt;</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937760" y="1325880"/>
          <a:ext cx="3749040" cy="1920240"/>
        </p:xfrm>
        <a:graphic>
          <a:graphicData uri="http://schemas.openxmlformats.org/drawingml/2006/table">
            <a:tbl>
              <a:tblPr/>
              <a:tblGrid>
                <a:gridCol w="1371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274320">
                <a:tc>
                  <a:txBody>
                    <a:bodyPr/>
                    <a:lstStyle/>
                    <a:p>
                      <a:pPr marL="0" indent="0">
                        <a:buNone/>
                      </a:pPr>
                      <a:r>
                        <a:rPr lang="en-US" sz="1000" b="1" dirty="0">
                          <a:solidFill>
                            <a:srgbClr val="3FB950"/>
                          </a:solidFill>
                        </a:rPr>
                        <a:t>Shown</a:t>
                      </a:r>
                      <a:endParaRPr lang="en-US" sz="1000" dirty="0"/>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tc>
                  <a:txBody>
                    <a:bodyPr/>
                    <a:lstStyle/>
                    <a:p>
                      <a:pPr marL="0" indent="0">
                        <a:buNone/>
                      </a:pPr>
                      <a:r>
                        <a:rPr lang="en-US" sz="1000" b="1" dirty="0">
                          <a:solidFill>
                            <a:srgbClr val="3FB950"/>
                          </a:solidFill>
                        </a:rPr>
                        <a:t>struct stat</a:t>
                      </a:r>
                      <a:endParaRPr lang="en-US" sz="1000" dirty="0"/>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21262D"/>
                    </a:solidFill>
                  </a:tcPr>
                </a:tc>
                <a:extLst>
                  <a:ext uri="{0D108BD9-81ED-4DB2-BD59-A6C34878D82A}">
                    <a16:rowId xmlns:a16="http://schemas.microsoft.com/office/drawing/2014/main" val="10000"/>
                  </a:ext>
                </a:extLst>
              </a:tr>
              <a:tr h="274320">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Size</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st_size</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1"/>
                  </a:ext>
                </a:extLst>
              </a:tr>
              <a:tr h="274320">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Inode</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st_ino</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2"/>
                  </a:ext>
                </a:extLst>
              </a:tr>
              <a:tr h="274320">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Owner / group</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st_uid, st_gid</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3"/>
                  </a:ext>
                </a:extLst>
              </a:tr>
              <a:tr h="274320">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Type</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S_ISREG / S_ISDIR / S_ISLNK</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4"/>
                  </a:ext>
                </a:extLst>
              </a:tr>
              <a:tr h="274320">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Permissions</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st_mode &amp; S_IRUSR ...</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5"/>
                  </a:ext>
                </a:extLst>
              </a:tr>
              <a:tr h="274320">
                <a:tc>
                  <a:txBody>
                    <a:bodyPr/>
                    <a:lstStyle/>
                    <a:p>
                      <a:pPr marL="0" indent="0">
                        <a:buNone/>
                      </a:pPr>
                      <a:r>
                        <a:rPr lang="en-US" sz="950" dirty="0">
                          <a:solidFill>
                            <a:srgbClr val="E6EDF3"/>
                          </a:solidFill>
                          <a:latin typeface="Calibri" pitchFamily="34" charset="0"/>
                          <a:ea typeface="Calibri" pitchFamily="34" charset="-122"/>
                          <a:cs typeface="Calibri" pitchFamily="34" charset="-120"/>
                        </a:rPr>
                        <a:t>Modified</a:t>
                      </a:r>
                      <a:endParaRPr lang="en-US" sz="950" dirty="0">
                        <a:latin typeface="Calibri" charset="0"/>
                        <a:ea typeface="Calibri" charset="0"/>
                        <a:cs typeface="Calibri"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marL="0" indent="0">
                        <a:buNone/>
                      </a:pPr>
                      <a:r>
                        <a:rPr lang="en-US" sz="950" dirty="0">
                          <a:solidFill>
                            <a:srgbClr val="58A6FF"/>
                          </a:solidFill>
                          <a:latin typeface="Consolas" pitchFamily="34" charset="0"/>
                          <a:ea typeface="Consolas" pitchFamily="34" charset="-122"/>
                          <a:cs typeface="Consolas" pitchFamily="34" charset="-120"/>
                        </a:rPr>
                        <a:t>st_mtime via ctime()</a:t>
                      </a:r>
                      <a:endParaRPr lang="en-US" sz="950" dirty="0">
                        <a:latin typeface="Consolas" charset="0"/>
                        <a:ea typeface="Consolas" charset="0"/>
                        <a:cs typeface="Consolas" charset="0"/>
                      </a:endParaRPr>
                    </a:p>
                  </a:txBody>
                  <a:tcP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extLst>
                  <a:ext uri="{0D108BD9-81ED-4DB2-BD59-A6C34878D82A}">
                    <a16:rowId xmlns:a16="http://schemas.microsoft.com/office/drawing/2014/main" val="10006"/>
                  </a:ext>
                </a:extLst>
              </a:tr>
            </a:tbl>
          </a:graphicData>
        </a:graphic>
      </p:graphicFrame>
      <p:sp>
        <p:nvSpPr>
          <p:cNvPr id="6" name="Text 7"/>
          <p:cNvSpPr txBox="1"/>
          <p:nvPr/>
        </p:nvSpPr>
        <p:spPr>
          <a:xfrm>
            <a:off x="4937760" y="3429000"/>
            <a:ext cx="3749040" cy="548640"/>
          </a:xfrm>
          <a:prstGeom prst="rect">
            <a:avLst/>
          </a:prstGeom>
          <a:noFill/>
          <a:ln/>
        </p:spPr>
        <p:txBody>
          <a:bodyPr wrap="square" lIns="0" tIns="0" rIns="0" bIns="0" rtlCol="0" anchor="t"/>
          <a:lstStyle/>
          <a:p>
            <a:pPr marL="0" indent="0">
              <a:buNone/>
            </a:pPr>
            <a:r>
              <a:rPr lang="en-US" sz="1050" dirty="0">
                <a:solidFill>
                  <a:srgbClr val="E6EDF3"/>
                </a:solidFill>
                <a:latin typeface="Calibri" pitchFamily="34" charset="0"/>
                <a:ea typeface="Calibri" pitchFamily="34" charset="-122"/>
                <a:cs typeface="Calibri" pitchFamily="34" charset="-120"/>
              </a:rPr>
              <a:t>Why inode matters: the inode stores metadata and block pointers; the filename is only a directory entry pointing to it.</a:t>
            </a:r>
            <a:endParaRPr lang="en-US" sz="1050" dirty="0"/>
          </a:p>
        </p:txBody>
      </p:sp>
      <p:sp>
        <p:nvSpPr>
          <p:cNvPr id="12" name="Text 8"/>
          <p:cNvSpPr txBox="1"/>
          <p:nvPr/>
        </p:nvSpPr>
        <p:spPr>
          <a:xfrm>
            <a:off x="4937760" y="4114800"/>
            <a:ext cx="3749040" cy="365760"/>
          </a:xfrm>
          <a:prstGeom prst="rect">
            <a:avLst/>
          </a:prstGeom>
          <a:noFill/>
          <a:ln/>
        </p:spPr>
        <p:txBody>
          <a:bodyPr wrap="square" lIns="0" tIns="0" rIns="0" bIns="0" rtlCol="0" anchor="t"/>
          <a:lstStyle/>
          <a:p>
            <a:pPr marL="0" indent="0">
              <a:buNone/>
            </a:pPr>
            <a:r>
              <a:rPr lang="en-US" sz="950" dirty="0">
                <a:solidFill>
                  <a:srgbClr val="E3B341"/>
                </a:solidFill>
                <a:latin typeface="Calibri" pitchFamily="34" charset="0"/>
                <a:ea typeface="Calibri" pitchFamily="34" charset="-122"/>
                <a:cs typeface="Calibri" pitchFamily="34" charset="-120"/>
              </a:rPr>
              <a:t>Not shown: link count, access time.  stat() follows symlinks.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File Management Operations</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Every menu option maps to one system call (or a short sequence).</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11</a:t>
            </a:r>
            <a:endParaRPr lang="en-US" sz="800" dirty="0"/>
          </a:p>
        </p:txBody>
      </p:sp>
      <p:sp>
        <p:nvSpPr>
          <p:cNvPr id="7" name="Shape 4"/>
          <p:cNvSpPr/>
          <p:nvPr/>
        </p:nvSpPr>
        <p:spPr>
          <a:xfrm>
            <a:off x="457200" y="1188720"/>
            <a:ext cx="1920240" cy="1508760"/>
          </a:xfrm>
          <a:prstGeom prst="roundRect">
            <a:avLst>
              <a:gd name="adj" fmla="val 3636"/>
            </a:avLst>
          </a:prstGeom>
          <a:solidFill>
            <a:srgbClr val="161B22"/>
          </a:solidFill>
          <a:ln w="12700">
            <a:solidFill>
              <a:srgbClr val="3FB950"/>
            </a:solidFill>
            <a:prstDash val="solid"/>
          </a:ln>
        </p:spPr>
      </p:sp>
      <p:sp>
        <p:nvSpPr>
          <p:cNvPr id="8" name="Text 5"/>
          <p:cNvSpPr txBox="1"/>
          <p:nvPr/>
        </p:nvSpPr>
        <p:spPr>
          <a:xfrm>
            <a:off x="566928" y="1280160"/>
            <a:ext cx="1737360" cy="274320"/>
          </a:xfrm>
          <a:prstGeom prst="rect">
            <a:avLst/>
          </a:prstGeom>
          <a:noFill/>
          <a:ln/>
        </p:spPr>
        <p:txBody>
          <a:bodyPr wrap="square" lIns="0" tIns="0" rIns="0" bIns="0" rtlCol="0" anchor="t"/>
          <a:lstStyle/>
          <a:p>
            <a:pPr marL="0" indent="0">
              <a:buNone/>
            </a:pPr>
            <a:r>
              <a:rPr lang="en-US" sz="1150" b="1" dirty="0">
                <a:solidFill>
                  <a:srgbClr val="3FB950"/>
                </a:solidFill>
                <a:latin typeface="Calibri" pitchFamily="34" charset="0"/>
                <a:ea typeface="Calibri" pitchFamily="34" charset="-122"/>
                <a:cs typeface="Calibri" pitchFamily="34" charset="-120"/>
              </a:rPr>
              <a:t>5  Read File</a:t>
            </a:r>
            <a:endParaRPr lang="en-US" sz="1150" dirty="0"/>
          </a:p>
        </p:txBody>
      </p:sp>
      <p:sp>
        <p:nvSpPr>
          <p:cNvPr id="9" name="Text 6"/>
          <p:cNvSpPr txBox="1"/>
          <p:nvPr/>
        </p:nvSpPr>
        <p:spPr>
          <a:xfrm>
            <a:off x="566928" y="1645920"/>
            <a:ext cx="1737360" cy="548640"/>
          </a:xfrm>
          <a:prstGeom prst="rect">
            <a:avLst/>
          </a:prstGeom>
          <a:noFill/>
          <a:ln/>
        </p:spPr>
        <p:txBody>
          <a:bodyPr wrap="square" lIns="0" tIns="0" rIns="0" bIns="0" rtlCol="0" anchor="t"/>
          <a:lstStyle/>
          <a:p>
            <a:pPr marL="0" indent="0">
              <a:buNone/>
            </a:pPr>
            <a:r>
              <a:rPr lang="en-US" sz="900" dirty="0">
                <a:solidFill>
                  <a:srgbClr val="58A6FF"/>
                </a:solidFill>
                <a:latin typeface="Consolas" pitchFamily="34" charset="0"/>
                <a:ea typeface="Consolas" pitchFamily="34" charset="-122"/>
                <a:cs typeface="Consolas" pitchFamily="34" charset="-120"/>
              </a:rPr>
              <a:t>open → read → write → close</a:t>
            </a:r>
            <a:endParaRPr lang="en-US" sz="900" dirty="0"/>
          </a:p>
        </p:txBody>
      </p:sp>
      <p:sp>
        <p:nvSpPr>
          <p:cNvPr id="10" name="Text 7"/>
          <p:cNvSpPr txBox="1"/>
          <p:nvPr/>
        </p:nvSpPr>
        <p:spPr>
          <a:xfrm>
            <a:off x="566928" y="2240280"/>
            <a:ext cx="1737360" cy="41148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Streams to stdout</a:t>
            </a:r>
            <a:endParaRPr lang="en-US" sz="950" dirty="0"/>
          </a:p>
        </p:txBody>
      </p:sp>
      <p:sp>
        <p:nvSpPr>
          <p:cNvPr id="11" name="Shape 8"/>
          <p:cNvSpPr/>
          <p:nvPr/>
        </p:nvSpPr>
        <p:spPr>
          <a:xfrm>
            <a:off x="2560320" y="1188720"/>
            <a:ext cx="1920240" cy="1508760"/>
          </a:xfrm>
          <a:prstGeom prst="roundRect">
            <a:avLst>
              <a:gd name="adj" fmla="val 3636"/>
            </a:avLst>
          </a:prstGeom>
          <a:solidFill>
            <a:srgbClr val="161B22"/>
          </a:solidFill>
          <a:ln w="12700">
            <a:solidFill>
              <a:srgbClr val="30363D"/>
            </a:solidFill>
            <a:prstDash val="solid"/>
          </a:ln>
        </p:spPr>
      </p:sp>
      <p:sp>
        <p:nvSpPr>
          <p:cNvPr id="12" name="Text 9"/>
          <p:cNvSpPr txBox="1"/>
          <p:nvPr/>
        </p:nvSpPr>
        <p:spPr>
          <a:xfrm>
            <a:off x="2670048" y="1280160"/>
            <a:ext cx="1737360" cy="274320"/>
          </a:xfrm>
          <a:prstGeom prst="rect">
            <a:avLst/>
          </a:prstGeom>
          <a:noFill/>
          <a:ln/>
        </p:spPr>
        <p:txBody>
          <a:bodyPr wrap="square" lIns="0" tIns="0" rIns="0" bIns="0" rtlCol="0" anchor="t"/>
          <a:lstStyle/>
          <a:p>
            <a:pPr marL="0" indent="0">
              <a:buNone/>
            </a:pPr>
            <a:r>
              <a:rPr lang="en-US" sz="1150" b="1" dirty="0">
                <a:solidFill>
                  <a:srgbClr val="3FB950"/>
                </a:solidFill>
                <a:latin typeface="Calibri" pitchFamily="34" charset="0"/>
                <a:ea typeface="Calibri" pitchFamily="34" charset="-122"/>
                <a:cs typeface="Calibri" pitchFamily="34" charset="-120"/>
              </a:rPr>
              <a:t>6  Create File</a:t>
            </a:r>
            <a:endParaRPr lang="en-US" sz="1150" dirty="0"/>
          </a:p>
        </p:txBody>
      </p:sp>
      <p:sp>
        <p:nvSpPr>
          <p:cNvPr id="13" name="Text 10"/>
          <p:cNvSpPr txBox="1"/>
          <p:nvPr/>
        </p:nvSpPr>
        <p:spPr>
          <a:xfrm>
            <a:off x="2670048" y="1645920"/>
            <a:ext cx="1737360" cy="548640"/>
          </a:xfrm>
          <a:prstGeom prst="rect">
            <a:avLst/>
          </a:prstGeom>
          <a:noFill/>
          <a:ln/>
        </p:spPr>
        <p:txBody>
          <a:bodyPr wrap="square" lIns="0" tIns="0" rIns="0" bIns="0" rtlCol="0" anchor="t"/>
          <a:lstStyle/>
          <a:p>
            <a:pPr marL="0" indent="0">
              <a:buNone/>
            </a:pPr>
            <a:r>
              <a:rPr lang="en-US" sz="900" dirty="0">
                <a:solidFill>
                  <a:srgbClr val="58A6FF"/>
                </a:solidFill>
                <a:latin typeface="Consolas" pitchFamily="34" charset="0"/>
                <a:ea typeface="Consolas" pitchFamily="34" charset="-122"/>
                <a:cs typeface="Consolas" pitchFamily="34" charset="-120"/>
              </a:rPr>
              <a:t>open(O_CREAT|O_WRONLY|O_EXCL, 0644)</a:t>
            </a:r>
            <a:endParaRPr lang="en-US" sz="900" dirty="0"/>
          </a:p>
        </p:txBody>
      </p:sp>
      <p:sp>
        <p:nvSpPr>
          <p:cNvPr id="14" name="Text 11"/>
          <p:cNvSpPr txBox="1"/>
          <p:nvPr/>
        </p:nvSpPr>
        <p:spPr>
          <a:xfrm>
            <a:off x="2670048" y="2240280"/>
            <a:ext cx="1737360" cy="41148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Then close(); fails if exists</a:t>
            </a:r>
            <a:endParaRPr lang="en-US" sz="950" dirty="0"/>
          </a:p>
        </p:txBody>
      </p:sp>
      <p:sp>
        <p:nvSpPr>
          <p:cNvPr id="15" name="Shape 12"/>
          <p:cNvSpPr/>
          <p:nvPr/>
        </p:nvSpPr>
        <p:spPr>
          <a:xfrm>
            <a:off x="4663440" y="1188720"/>
            <a:ext cx="1920240" cy="1508760"/>
          </a:xfrm>
          <a:prstGeom prst="roundRect">
            <a:avLst>
              <a:gd name="adj" fmla="val 3636"/>
            </a:avLst>
          </a:prstGeom>
          <a:solidFill>
            <a:srgbClr val="161B22"/>
          </a:solidFill>
          <a:ln w="12700">
            <a:solidFill>
              <a:srgbClr val="30363D"/>
            </a:solidFill>
            <a:prstDash val="solid"/>
          </a:ln>
        </p:spPr>
      </p:sp>
      <p:sp>
        <p:nvSpPr>
          <p:cNvPr id="16" name="Text 13"/>
          <p:cNvSpPr txBox="1"/>
          <p:nvPr/>
        </p:nvSpPr>
        <p:spPr>
          <a:xfrm>
            <a:off x="4773168" y="1280160"/>
            <a:ext cx="1737360" cy="274320"/>
          </a:xfrm>
          <a:prstGeom prst="rect">
            <a:avLst/>
          </a:prstGeom>
          <a:noFill/>
          <a:ln/>
        </p:spPr>
        <p:txBody>
          <a:bodyPr wrap="square" lIns="0" tIns="0" rIns="0" bIns="0" rtlCol="0" anchor="t"/>
          <a:lstStyle/>
          <a:p>
            <a:pPr marL="0" indent="0">
              <a:buNone/>
            </a:pPr>
            <a:r>
              <a:rPr lang="en-US" sz="1150" b="1" dirty="0">
                <a:solidFill>
                  <a:srgbClr val="3FB950"/>
                </a:solidFill>
                <a:latin typeface="Calibri" pitchFamily="34" charset="0"/>
                <a:ea typeface="Calibri" pitchFamily="34" charset="-122"/>
                <a:cs typeface="Calibri" pitchFamily="34" charset="-120"/>
              </a:rPr>
              <a:t>7  Create Directory</a:t>
            </a:r>
            <a:endParaRPr lang="en-US" sz="1150" dirty="0"/>
          </a:p>
        </p:txBody>
      </p:sp>
      <p:sp>
        <p:nvSpPr>
          <p:cNvPr id="17" name="Text 14"/>
          <p:cNvSpPr txBox="1"/>
          <p:nvPr/>
        </p:nvSpPr>
        <p:spPr>
          <a:xfrm>
            <a:off x="4773168" y="1645920"/>
            <a:ext cx="1737360" cy="548640"/>
          </a:xfrm>
          <a:prstGeom prst="rect">
            <a:avLst/>
          </a:prstGeom>
          <a:noFill/>
          <a:ln/>
        </p:spPr>
        <p:txBody>
          <a:bodyPr wrap="square" lIns="0" tIns="0" rIns="0" bIns="0" rtlCol="0" anchor="t"/>
          <a:lstStyle/>
          <a:p>
            <a:pPr marL="0" indent="0">
              <a:buNone/>
            </a:pPr>
            <a:r>
              <a:rPr lang="en-US" sz="900" dirty="0">
                <a:solidFill>
                  <a:srgbClr val="58A6FF"/>
                </a:solidFill>
                <a:latin typeface="Consolas" pitchFamily="34" charset="0"/>
                <a:ea typeface="Consolas" pitchFamily="34" charset="-122"/>
                <a:cs typeface="Consolas" pitchFamily="34" charset="-120"/>
              </a:rPr>
              <a:t>mkdir(name, 0755)</a:t>
            </a:r>
            <a:endParaRPr lang="en-US" sz="900" dirty="0"/>
          </a:p>
        </p:txBody>
      </p:sp>
      <p:sp>
        <p:nvSpPr>
          <p:cNvPr id="18" name="Text 15"/>
          <p:cNvSpPr txBox="1"/>
          <p:nvPr/>
        </p:nvSpPr>
        <p:spPr>
          <a:xfrm>
            <a:off x="4773168" y="2240280"/>
            <a:ext cx="1737360" cy="41148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New directory</a:t>
            </a:r>
            <a:endParaRPr lang="en-US" sz="950" dirty="0"/>
          </a:p>
        </p:txBody>
      </p:sp>
      <p:sp>
        <p:nvSpPr>
          <p:cNvPr id="19" name="Shape 16"/>
          <p:cNvSpPr/>
          <p:nvPr/>
        </p:nvSpPr>
        <p:spPr>
          <a:xfrm>
            <a:off x="6766560" y="1188720"/>
            <a:ext cx="1920240" cy="1508760"/>
          </a:xfrm>
          <a:prstGeom prst="roundRect">
            <a:avLst>
              <a:gd name="adj" fmla="val 3636"/>
            </a:avLst>
          </a:prstGeom>
          <a:solidFill>
            <a:srgbClr val="161B22"/>
          </a:solidFill>
          <a:ln w="12700">
            <a:solidFill>
              <a:srgbClr val="30363D"/>
            </a:solidFill>
            <a:prstDash val="solid"/>
          </a:ln>
        </p:spPr>
      </p:sp>
      <p:sp>
        <p:nvSpPr>
          <p:cNvPr id="20" name="Text 17"/>
          <p:cNvSpPr txBox="1"/>
          <p:nvPr/>
        </p:nvSpPr>
        <p:spPr>
          <a:xfrm>
            <a:off x="6876288" y="1280160"/>
            <a:ext cx="1737360" cy="274320"/>
          </a:xfrm>
          <a:prstGeom prst="rect">
            <a:avLst/>
          </a:prstGeom>
          <a:noFill/>
          <a:ln/>
        </p:spPr>
        <p:txBody>
          <a:bodyPr wrap="square" lIns="0" tIns="0" rIns="0" bIns="0" rtlCol="0" anchor="t"/>
          <a:lstStyle/>
          <a:p>
            <a:pPr marL="0" indent="0">
              <a:buNone/>
            </a:pPr>
            <a:r>
              <a:rPr lang="en-US" sz="1150" b="1" dirty="0">
                <a:solidFill>
                  <a:srgbClr val="3FB950"/>
                </a:solidFill>
                <a:latin typeface="Calibri" pitchFamily="34" charset="0"/>
                <a:ea typeface="Calibri" pitchFamily="34" charset="-122"/>
                <a:cs typeface="Calibri" pitchFamily="34" charset="-120"/>
              </a:rPr>
              <a:t>8  Delete File</a:t>
            </a:r>
            <a:endParaRPr lang="en-US" sz="1150" dirty="0"/>
          </a:p>
        </p:txBody>
      </p:sp>
      <p:sp>
        <p:nvSpPr>
          <p:cNvPr id="21" name="Text 18"/>
          <p:cNvSpPr txBox="1"/>
          <p:nvPr/>
        </p:nvSpPr>
        <p:spPr>
          <a:xfrm>
            <a:off x="6876288" y="1645920"/>
            <a:ext cx="1737360" cy="548640"/>
          </a:xfrm>
          <a:prstGeom prst="rect">
            <a:avLst/>
          </a:prstGeom>
          <a:noFill/>
          <a:ln/>
        </p:spPr>
        <p:txBody>
          <a:bodyPr wrap="square" lIns="0" tIns="0" rIns="0" bIns="0" rtlCol="0" anchor="t"/>
          <a:lstStyle/>
          <a:p>
            <a:pPr marL="0" indent="0">
              <a:buNone/>
            </a:pPr>
            <a:r>
              <a:rPr lang="en-US" sz="900" dirty="0">
                <a:solidFill>
                  <a:srgbClr val="58A6FF"/>
                </a:solidFill>
                <a:latin typeface="Consolas" pitchFamily="34" charset="0"/>
                <a:ea typeface="Consolas" pitchFamily="34" charset="-122"/>
                <a:cs typeface="Consolas" pitchFamily="34" charset="-120"/>
              </a:rPr>
              <a:t>unlink(name)</a:t>
            </a:r>
            <a:endParaRPr lang="en-US" sz="900" dirty="0"/>
          </a:p>
        </p:txBody>
      </p:sp>
      <p:sp>
        <p:nvSpPr>
          <p:cNvPr id="22" name="Text 19"/>
          <p:cNvSpPr txBox="1"/>
          <p:nvPr/>
        </p:nvSpPr>
        <p:spPr>
          <a:xfrm>
            <a:off x="6876288" y="2240280"/>
            <a:ext cx="1737360" cy="41148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Removes the file name</a:t>
            </a:r>
            <a:endParaRPr lang="en-US" sz="950" dirty="0"/>
          </a:p>
        </p:txBody>
      </p:sp>
      <p:sp>
        <p:nvSpPr>
          <p:cNvPr id="23" name="Shape 20"/>
          <p:cNvSpPr/>
          <p:nvPr/>
        </p:nvSpPr>
        <p:spPr>
          <a:xfrm>
            <a:off x="457200" y="2880360"/>
            <a:ext cx="1920240" cy="1508760"/>
          </a:xfrm>
          <a:prstGeom prst="roundRect">
            <a:avLst>
              <a:gd name="adj" fmla="val 3636"/>
            </a:avLst>
          </a:prstGeom>
          <a:solidFill>
            <a:srgbClr val="161B22"/>
          </a:solidFill>
          <a:ln w="12700">
            <a:solidFill>
              <a:srgbClr val="30363D"/>
            </a:solidFill>
            <a:prstDash val="solid"/>
          </a:ln>
        </p:spPr>
      </p:sp>
      <p:sp>
        <p:nvSpPr>
          <p:cNvPr id="24" name="Text 21"/>
          <p:cNvSpPr txBox="1"/>
          <p:nvPr/>
        </p:nvSpPr>
        <p:spPr>
          <a:xfrm>
            <a:off x="566928" y="2971800"/>
            <a:ext cx="1737360" cy="274320"/>
          </a:xfrm>
          <a:prstGeom prst="rect">
            <a:avLst/>
          </a:prstGeom>
          <a:noFill/>
          <a:ln/>
        </p:spPr>
        <p:txBody>
          <a:bodyPr wrap="square" lIns="0" tIns="0" rIns="0" bIns="0" rtlCol="0" anchor="t"/>
          <a:lstStyle/>
          <a:p>
            <a:pPr marL="0" indent="0">
              <a:buNone/>
            </a:pPr>
            <a:r>
              <a:rPr lang="en-US" sz="1150" b="1" dirty="0">
                <a:solidFill>
                  <a:srgbClr val="3FB950"/>
                </a:solidFill>
                <a:latin typeface="Calibri" pitchFamily="34" charset="0"/>
                <a:ea typeface="Calibri" pitchFamily="34" charset="-122"/>
                <a:cs typeface="Calibri" pitchFamily="34" charset="-120"/>
              </a:rPr>
              <a:t>9  Delete Directory</a:t>
            </a:r>
            <a:endParaRPr lang="en-US" sz="1150" dirty="0"/>
          </a:p>
        </p:txBody>
      </p:sp>
      <p:sp>
        <p:nvSpPr>
          <p:cNvPr id="25" name="Text 22"/>
          <p:cNvSpPr txBox="1"/>
          <p:nvPr/>
        </p:nvSpPr>
        <p:spPr>
          <a:xfrm>
            <a:off x="566928" y="3337560"/>
            <a:ext cx="1737360" cy="548640"/>
          </a:xfrm>
          <a:prstGeom prst="rect">
            <a:avLst/>
          </a:prstGeom>
          <a:noFill/>
          <a:ln/>
        </p:spPr>
        <p:txBody>
          <a:bodyPr wrap="square" lIns="0" tIns="0" rIns="0" bIns="0" rtlCol="0" anchor="t"/>
          <a:lstStyle/>
          <a:p>
            <a:pPr marL="0" indent="0">
              <a:buNone/>
            </a:pPr>
            <a:r>
              <a:rPr lang="en-US" sz="900" dirty="0">
                <a:solidFill>
                  <a:srgbClr val="58A6FF"/>
                </a:solidFill>
                <a:latin typeface="Consolas" pitchFamily="34" charset="0"/>
                <a:ea typeface="Consolas" pitchFamily="34" charset="-122"/>
                <a:cs typeface="Consolas" pitchFamily="34" charset="-120"/>
              </a:rPr>
              <a:t>rmdir(name)</a:t>
            </a:r>
            <a:endParaRPr lang="en-US" sz="900" dirty="0"/>
          </a:p>
        </p:txBody>
      </p:sp>
      <p:sp>
        <p:nvSpPr>
          <p:cNvPr id="26" name="Text 23"/>
          <p:cNvSpPr txBox="1"/>
          <p:nvPr/>
        </p:nvSpPr>
        <p:spPr>
          <a:xfrm>
            <a:off x="566928" y="3931920"/>
            <a:ext cx="1737360" cy="41148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Empty directories only</a:t>
            </a:r>
            <a:endParaRPr lang="en-US" sz="950" dirty="0"/>
          </a:p>
        </p:txBody>
      </p:sp>
      <p:sp>
        <p:nvSpPr>
          <p:cNvPr id="27" name="Shape 24"/>
          <p:cNvSpPr/>
          <p:nvPr/>
        </p:nvSpPr>
        <p:spPr>
          <a:xfrm>
            <a:off x="2560320" y="2880360"/>
            <a:ext cx="1920240" cy="1508760"/>
          </a:xfrm>
          <a:prstGeom prst="roundRect">
            <a:avLst>
              <a:gd name="adj" fmla="val 3636"/>
            </a:avLst>
          </a:prstGeom>
          <a:solidFill>
            <a:srgbClr val="161B22"/>
          </a:solidFill>
          <a:ln w="12700">
            <a:solidFill>
              <a:srgbClr val="30363D"/>
            </a:solidFill>
            <a:prstDash val="solid"/>
          </a:ln>
        </p:spPr>
      </p:sp>
      <p:sp>
        <p:nvSpPr>
          <p:cNvPr id="28" name="Text 25"/>
          <p:cNvSpPr txBox="1"/>
          <p:nvPr/>
        </p:nvSpPr>
        <p:spPr>
          <a:xfrm>
            <a:off x="2670048" y="2971800"/>
            <a:ext cx="1737360" cy="274320"/>
          </a:xfrm>
          <a:prstGeom prst="rect">
            <a:avLst/>
          </a:prstGeom>
          <a:noFill/>
          <a:ln/>
        </p:spPr>
        <p:txBody>
          <a:bodyPr wrap="square" lIns="0" tIns="0" rIns="0" bIns="0" rtlCol="0" anchor="t"/>
          <a:lstStyle/>
          <a:p>
            <a:pPr marL="0" indent="0">
              <a:buNone/>
            </a:pPr>
            <a:r>
              <a:rPr lang="en-US" sz="1150" b="1" dirty="0">
                <a:solidFill>
                  <a:srgbClr val="3FB950"/>
                </a:solidFill>
                <a:latin typeface="Calibri" pitchFamily="34" charset="0"/>
                <a:ea typeface="Calibri" pitchFamily="34" charset="-122"/>
                <a:cs typeface="Calibri" pitchFamily="34" charset="-120"/>
              </a:rPr>
              <a:t>10  Rename</a:t>
            </a:r>
            <a:endParaRPr lang="en-US" sz="1150" dirty="0"/>
          </a:p>
        </p:txBody>
      </p:sp>
      <p:sp>
        <p:nvSpPr>
          <p:cNvPr id="29" name="Text 26"/>
          <p:cNvSpPr txBox="1"/>
          <p:nvPr/>
        </p:nvSpPr>
        <p:spPr>
          <a:xfrm>
            <a:off x="2670048" y="3337560"/>
            <a:ext cx="1737360" cy="548640"/>
          </a:xfrm>
          <a:prstGeom prst="rect">
            <a:avLst/>
          </a:prstGeom>
          <a:noFill/>
          <a:ln/>
        </p:spPr>
        <p:txBody>
          <a:bodyPr wrap="square" lIns="0" tIns="0" rIns="0" bIns="0" rtlCol="0" anchor="t"/>
          <a:lstStyle/>
          <a:p>
            <a:pPr marL="0" indent="0">
              <a:buNone/>
            </a:pPr>
            <a:r>
              <a:rPr lang="en-US" sz="900" dirty="0">
                <a:solidFill>
                  <a:srgbClr val="58A6FF"/>
                </a:solidFill>
                <a:latin typeface="Consolas" pitchFamily="34" charset="0"/>
                <a:ea typeface="Consolas" pitchFamily="34" charset="-122"/>
                <a:cs typeface="Consolas" pitchFamily="34" charset="-120"/>
              </a:rPr>
              <a:t>rename(old, new)</a:t>
            </a:r>
            <a:endParaRPr lang="en-US" sz="900" dirty="0"/>
          </a:p>
        </p:txBody>
      </p:sp>
      <p:sp>
        <p:nvSpPr>
          <p:cNvPr id="30" name="Text 27"/>
          <p:cNvSpPr txBox="1"/>
          <p:nvPr/>
        </p:nvSpPr>
        <p:spPr>
          <a:xfrm>
            <a:off x="2670048" y="3931920"/>
            <a:ext cx="1737360" cy="41148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Files and directories</a:t>
            </a:r>
            <a:endParaRPr lang="en-US" sz="950" dirty="0"/>
          </a:p>
        </p:txBody>
      </p:sp>
      <p:sp>
        <p:nvSpPr>
          <p:cNvPr id="31" name="Shape 28"/>
          <p:cNvSpPr/>
          <p:nvPr/>
        </p:nvSpPr>
        <p:spPr>
          <a:xfrm>
            <a:off x="4663440" y="2880360"/>
            <a:ext cx="1920240" cy="1508760"/>
          </a:xfrm>
          <a:prstGeom prst="roundRect">
            <a:avLst>
              <a:gd name="adj" fmla="val 3636"/>
            </a:avLst>
          </a:prstGeom>
          <a:solidFill>
            <a:srgbClr val="161B22"/>
          </a:solidFill>
          <a:ln w="12700">
            <a:solidFill>
              <a:srgbClr val="30363D"/>
            </a:solidFill>
            <a:prstDash val="solid"/>
          </a:ln>
        </p:spPr>
      </p:sp>
      <p:sp>
        <p:nvSpPr>
          <p:cNvPr id="32" name="Text 29"/>
          <p:cNvSpPr txBox="1"/>
          <p:nvPr/>
        </p:nvSpPr>
        <p:spPr>
          <a:xfrm>
            <a:off x="4773168" y="2971800"/>
            <a:ext cx="1737360" cy="274320"/>
          </a:xfrm>
          <a:prstGeom prst="rect">
            <a:avLst/>
          </a:prstGeom>
          <a:noFill/>
          <a:ln/>
        </p:spPr>
        <p:txBody>
          <a:bodyPr wrap="square" lIns="0" tIns="0" rIns="0" bIns="0" rtlCol="0" anchor="t"/>
          <a:lstStyle/>
          <a:p>
            <a:pPr marL="0" indent="0">
              <a:buNone/>
            </a:pPr>
            <a:r>
              <a:rPr lang="en-US" sz="1150" b="1" dirty="0">
                <a:solidFill>
                  <a:srgbClr val="3FB950"/>
                </a:solidFill>
                <a:latin typeface="Calibri" pitchFamily="34" charset="0"/>
                <a:ea typeface="Calibri" pitchFamily="34" charset="-122"/>
                <a:cs typeface="Calibri" pitchFamily="34" charset="-120"/>
              </a:rPr>
              <a:t>2  Change Directory</a:t>
            </a:r>
            <a:endParaRPr lang="en-US" sz="1150" dirty="0"/>
          </a:p>
        </p:txBody>
      </p:sp>
      <p:sp>
        <p:nvSpPr>
          <p:cNvPr id="33" name="Text 30"/>
          <p:cNvSpPr txBox="1"/>
          <p:nvPr/>
        </p:nvSpPr>
        <p:spPr>
          <a:xfrm>
            <a:off x="4773168" y="3337560"/>
            <a:ext cx="1737360" cy="548640"/>
          </a:xfrm>
          <a:prstGeom prst="rect">
            <a:avLst/>
          </a:prstGeom>
          <a:noFill/>
          <a:ln/>
        </p:spPr>
        <p:txBody>
          <a:bodyPr wrap="square" lIns="0" tIns="0" rIns="0" bIns="0" rtlCol="0" anchor="t"/>
          <a:lstStyle/>
          <a:p>
            <a:pPr marL="0" indent="0">
              <a:buNone/>
            </a:pPr>
            <a:r>
              <a:rPr lang="en-US" sz="900" dirty="0">
                <a:solidFill>
                  <a:srgbClr val="58A6FF"/>
                </a:solidFill>
                <a:latin typeface="Consolas" pitchFamily="34" charset="0"/>
                <a:ea typeface="Consolas" pitchFamily="34" charset="-122"/>
                <a:cs typeface="Consolas" pitchFamily="34" charset="-120"/>
              </a:rPr>
              <a:t>chdir(path)</a:t>
            </a:r>
            <a:endParaRPr lang="en-US" sz="900" dirty="0"/>
          </a:p>
        </p:txBody>
      </p:sp>
      <p:sp>
        <p:nvSpPr>
          <p:cNvPr id="34" name="Text 31"/>
          <p:cNvSpPr txBox="1"/>
          <p:nvPr/>
        </p:nvSpPr>
        <p:spPr>
          <a:xfrm>
            <a:off x="4773168" y="3931920"/>
            <a:ext cx="1737360" cy="41148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Absolute or relative</a:t>
            </a:r>
            <a:endParaRPr lang="en-US" sz="950" dirty="0"/>
          </a:p>
        </p:txBody>
      </p:sp>
      <p:sp>
        <p:nvSpPr>
          <p:cNvPr id="35" name="Shape 32"/>
          <p:cNvSpPr/>
          <p:nvPr/>
        </p:nvSpPr>
        <p:spPr>
          <a:xfrm>
            <a:off x="6766560" y="2880360"/>
            <a:ext cx="1920240" cy="1508760"/>
          </a:xfrm>
          <a:prstGeom prst="roundRect">
            <a:avLst>
              <a:gd name="adj" fmla="val 3636"/>
            </a:avLst>
          </a:prstGeom>
          <a:solidFill>
            <a:srgbClr val="161B22"/>
          </a:solidFill>
          <a:ln w="12700">
            <a:solidFill>
              <a:srgbClr val="30363D"/>
            </a:solidFill>
            <a:prstDash val="solid"/>
          </a:ln>
        </p:spPr>
      </p:sp>
      <p:sp>
        <p:nvSpPr>
          <p:cNvPr id="36" name="Text 33"/>
          <p:cNvSpPr txBox="1"/>
          <p:nvPr/>
        </p:nvSpPr>
        <p:spPr>
          <a:xfrm>
            <a:off x="6876288" y="2971800"/>
            <a:ext cx="1737360" cy="274320"/>
          </a:xfrm>
          <a:prstGeom prst="rect">
            <a:avLst/>
          </a:prstGeom>
          <a:noFill/>
          <a:ln/>
        </p:spPr>
        <p:txBody>
          <a:bodyPr wrap="square" lIns="0" tIns="0" rIns="0" bIns="0" rtlCol="0" anchor="t"/>
          <a:lstStyle/>
          <a:p>
            <a:pPr marL="0" indent="0">
              <a:buNone/>
            </a:pPr>
            <a:r>
              <a:rPr lang="en-US" sz="1150" b="1" dirty="0">
                <a:solidFill>
                  <a:srgbClr val="3FB950"/>
                </a:solidFill>
                <a:latin typeface="Calibri" pitchFamily="34" charset="0"/>
                <a:ea typeface="Calibri" pitchFamily="34" charset="-122"/>
                <a:cs typeface="Calibri" pitchFamily="34" charset="-120"/>
              </a:rPr>
              <a:t>3  Parent Directory</a:t>
            </a:r>
            <a:endParaRPr lang="en-US" sz="1150" dirty="0"/>
          </a:p>
        </p:txBody>
      </p:sp>
      <p:sp>
        <p:nvSpPr>
          <p:cNvPr id="37" name="Text 34"/>
          <p:cNvSpPr txBox="1"/>
          <p:nvPr/>
        </p:nvSpPr>
        <p:spPr>
          <a:xfrm>
            <a:off x="6876288" y="3337560"/>
            <a:ext cx="1737360" cy="548640"/>
          </a:xfrm>
          <a:prstGeom prst="rect">
            <a:avLst/>
          </a:prstGeom>
          <a:noFill/>
          <a:ln/>
        </p:spPr>
        <p:txBody>
          <a:bodyPr wrap="square" lIns="0" tIns="0" rIns="0" bIns="0" rtlCol="0" anchor="t"/>
          <a:lstStyle/>
          <a:p>
            <a:pPr marL="0" indent="0">
              <a:buNone/>
            </a:pPr>
            <a:r>
              <a:rPr lang="en-US" sz="900" dirty="0">
                <a:solidFill>
                  <a:srgbClr val="58A6FF"/>
                </a:solidFill>
                <a:latin typeface="Consolas" pitchFamily="34" charset="0"/>
                <a:ea typeface="Consolas" pitchFamily="34" charset="-122"/>
                <a:cs typeface="Consolas" pitchFamily="34" charset="-120"/>
              </a:rPr>
              <a:t>chdir("..")</a:t>
            </a:r>
            <a:endParaRPr lang="en-US" sz="900" dirty="0"/>
          </a:p>
        </p:txBody>
      </p:sp>
      <p:sp>
        <p:nvSpPr>
          <p:cNvPr id="38" name="Text 35"/>
          <p:cNvSpPr txBox="1"/>
          <p:nvPr/>
        </p:nvSpPr>
        <p:spPr>
          <a:xfrm>
            <a:off x="6876288" y="3931920"/>
            <a:ext cx="1737360" cy="41148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Moves up one level</a:t>
            </a:r>
            <a:endParaRPr lang="en-US" sz="950" dirty="0"/>
          </a:p>
        </p:txBody>
      </p:sp>
      <p:sp>
        <p:nvSpPr>
          <p:cNvPr id="39" name="Text 36"/>
          <p:cNvSpPr/>
          <p:nvPr/>
        </p:nvSpPr>
        <p:spPr>
          <a:xfrm>
            <a:off x="457200" y="4526280"/>
            <a:ext cx="2011680" cy="237744"/>
          </a:xfrm>
          <a:prstGeom prst="roundRect">
            <a:avLst>
              <a:gd name="adj" fmla="val 50000"/>
            </a:avLst>
          </a:prstGeom>
          <a:solidFill>
            <a:srgbClr val="3FB950">
              <a:alpha val="20000"/>
            </a:srgbClr>
          </a:solidFill>
          <a:ln w="12700">
            <a:solidFill>
              <a:srgbClr val="3FB950"/>
            </a:solidFill>
          </a:ln>
        </p:spPr>
        <p:txBody>
          <a:bodyPr wrap="square" lIns="0" tIns="0" rIns="0" bIns="0" rtlCol="0" anchor="ctr"/>
          <a:lstStyle/>
          <a:p>
            <a:pPr marL="0" indent="0" algn="ctr">
              <a:buNone/>
            </a:pPr>
            <a:r>
              <a:rPr lang="en-US" sz="900" b="1" dirty="0">
                <a:solidFill>
                  <a:srgbClr val="3FB950"/>
                </a:solidFill>
                <a:latin typeface="Calibri" pitchFamily="34" charset="0"/>
                <a:ea typeface="Calibri" pitchFamily="34" charset="-122"/>
                <a:cs typeface="Calibri" pitchFamily="34" charset="-120"/>
              </a:rPr>
              <a:t>ALL 8 ARE IMPLEMENTED</a:t>
            </a:r>
            <a:endParaRPr lang="en-US" sz="900" dirty="0"/>
          </a:p>
        </p:txBody>
      </p:sp>
      <p:sp>
        <p:nvSpPr>
          <p:cNvPr id="40" name="Text 37"/>
          <p:cNvSpPr txBox="1"/>
          <p:nvPr/>
        </p:nvSpPr>
        <p:spPr>
          <a:xfrm>
            <a:off x="2606040" y="4553712"/>
            <a:ext cx="4572000" cy="228600"/>
          </a:xfrm>
          <a:prstGeom prst="rect">
            <a:avLst/>
          </a:prstGeom>
          <a:noFill/>
          <a:ln/>
        </p:spPr>
        <p:txBody>
          <a:bodyPr wrap="square" lIns="0" tIns="0" rIns="0" bIns="0" rtlCol="0" anchor="t"/>
          <a:lstStyle/>
          <a:p>
            <a:pPr marL="0" indent="0">
              <a:buNone/>
            </a:pPr>
            <a:r>
              <a:rPr lang="en-US" sz="950" dirty="0">
                <a:solidFill>
                  <a:srgbClr val="9DA7B3"/>
                </a:solidFill>
                <a:latin typeface="Calibri" pitchFamily="34" charset="0"/>
                <a:ea typeface="Calibri" pitchFamily="34" charset="-122"/>
                <a:cs typeface="Calibri" pitchFamily="34" charset="-120"/>
              </a:rPr>
              <a:t>No file-content editing or copy/move is implemented.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Recursive File Search</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search_directory() walks the tree depth-first using getdents64 and recursion.</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12</a:t>
            </a:r>
            <a:endParaRPr lang="en-US" sz="800" dirty="0"/>
          </a:p>
        </p:txBody>
      </p:sp>
      <p:sp>
        <p:nvSpPr>
          <p:cNvPr id="7" name="Shape 4"/>
          <p:cNvSpPr/>
          <p:nvPr/>
        </p:nvSpPr>
        <p:spPr>
          <a:xfrm>
            <a:off x="457200" y="1188720"/>
            <a:ext cx="3017520" cy="3291840"/>
          </a:xfrm>
          <a:prstGeom prst="roundRect">
            <a:avLst>
              <a:gd name="adj" fmla="val 1515"/>
            </a:avLst>
          </a:prstGeom>
          <a:solidFill>
            <a:srgbClr val="010409"/>
          </a:solidFill>
          <a:ln w="12700">
            <a:solidFill>
              <a:srgbClr val="30363D"/>
            </a:solidFill>
            <a:prstDash val="solid"/>
          </a:ln>
        </p:spPr>
      </p:sp>
      <p:sp>
        <p:nvSpPr>
          <p:cNvPr id="8" name="Text 5"/>
          <p:cNvSpPr txBox="1"/>
          <p:nvPr/>
        </p:nvSpPr>
        <p:spPr>
          <a:xfrm>
            <a:off x="566928" y="1280160"/>
            <a:ext cx="2798064" cy="3108960"/>
          </a:xfrm>
          <a:prstGeom prst="rect">
            <a:avLst/>
          </a:prstGeom>
          <a:noFill/>
          <a:ln/>
        </p:spPr>
        <p:txBody>
          <a:bodyPr wrap="square" lIns="0" tIns="0" rIns="0" bIns="0" rtlCol="0" anchor="t"/>
          <a:lstStyle/>
          <a:p>
            <a:pPr marL="0" indent="0">
              <a:buNone/>
            </a:pPr>
            <a:r>
              <a:rPr lang="en-US" sz="1000" dirty="0">
                <a:solidFill>
                  <a:srgbClr val="C9D1D9"/>
                </a:solidFill>
                <a:latin typeface="Consolas" pitchFamily="34" charset="0"/>
                <a:ea typeface="Consolas" pitchFamily="34" charset="-122"/>
                <a:cs typeface="Consolas" pitchFamily="34" charset="-120"/>
              </a:rPr>
              <a:t>. (search root)</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Documents</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 report.pdf</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 notes.txt</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Projects</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 main.c   &lt;- match</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 test.c</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Downloads</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    +-- main.c   &lt;- match</a:t>
            </a:r>
            <a:endParaRPr lang="en-US" sz="1000" dirty="0"/>
          </a:p>
        </p:txBody>
      </p:sp>
      <p:sp>
        <p:nvSpPr>
          <p:cNvPr id="9" name="Text 6"/>
          <p:cNvSpPr/>
          <p:nvPr/>
        </p:nvSpPr>
        <p:spPr>
          <a:xfrm>
            <a:off x="3749040" y="1188720"/>
            <a:ext cx="2286000" cy="365760"/>
          </a:xfrm>
          <a:prstGeom prst="roundRect">
            <a:avLst>
              <a:gd name="adj" fmla="val 15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search("main.c") starts at "."</a:t>
            </a:r>
            <a:endParaRPr lang="en-US" sz="950" dirty="0"/>
          </a:p>
        </p:txBody>
      </p:sp>
      <p:sp>
        <p:nvSpPr>
          <p:cNvPr id="10" name="Text 7"/>
          <p:cNvSpPr txBox="1"/>
          <p:nvPr/>
        </p:nvSpPr>
        <p:spPr>
          <a:xfrm>
            <a:off x="4709160" y="151790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1" name="Text 8"/>
          <p:cNvSpPr/>
          <p:nvPr/>
        </p:nvSpPr>
        <p:spPr>
          <a:xfrm>
            <a:off x="3749040" y="1645920"/>
            <a:ext cx="2286000" cy="365760"/>
          </a:xfrm>
          <a:prstGeom prst="roundRect">
            <a:avLst>
              <a:gd name="adj" fmla="val 15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open dir → getdents64</a:t>
            </a:r>
            <a:endParaRPr lang="en-US" sz="950" dirty="0"/>
          </a:p>
        </p:txBody>
      </p:sp>
      <p:sp>
        <p:nvSpPr>
          <p:cNvPr id="12" name="Text 9"/>
          <p:cNvSpPr txBox="1"/>
          <p:nvPr/>
        </p:nvSpPr>
        <p:spPr>
          <a:xfrm>
            <a:off x="4709160" y="197510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3749040" y="2103120"/>
            <a:ext cx="2286000" cy="365760"/>
          </a:xfrm>
          <a:prstGeom prst="roundRect">
            <a:avLst>
              <a:gd name="adj" fmla="val 15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Skip "." and ".."</a:t>
            </a:r>
            <a:endParaRPr lang="en-US" sz="950" dirty="0"/>
          </a:p>
        </p:txBody>
      </p:sp>
      <p:sp>
        <p:nvSpPr>
          <p:cNvPr id="14" name="Text 11"/>
          <p:cNvSpPr txBox="1"/>
          <p:nvPr/>
        </p:nvSpPr>
        <p:spPr>
          <a:xfrm>
            <a:off x="4709160" y="243230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3749040" y="2560320"/>
            <a:ext cx="2286000" cy="365760"/>
          </a:xfrm>
          <a:prstGeom prst="roundRect">
            <a:avLst>
              <a:gd name="adj" fmla="val 15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Name == target?  print "Found: path"</a:t>
            </a:r>
            <a:endParaRPr lang="en-US" sz="950" dirty="0"/>
          </a:p>
        </p:txBody>
      </p:sp>
      <p:sp>
        <p:nvSpPr>
          <p:cNvPr id="16" name="Text 13"/>
          <p:cNvSpPr txBox="1"/>
          <p:nvPr/>
        </p:nvSpPr>
        <p:spPr>
          <a:xfrm>
            <a:off x="4709160" y="2889504"/>
            <a:ext cx="365760"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3749040" y="3017520"/>
            <a:ext cx="2286000" cy="365760"/>
          </a:xfrm>
          <a:prstGeom prst="roundRect">
            <a:avLst>
              <a:gd name="adj" fmla="val 15000"/>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d_type == DT_DIR?  recurse</a:t>
            </a:r>
            <a:endParaRPr lang="en-US" sz="950" dirty="0"/>
          </a:p>
        </p:txBody>
      </p:sp>
      <p:sp>
        <p:nvSpPr>
          <p:cNvPr id="18" name="Shape 15"/>
          <p:cNvSpPr/>
          <p:nvPr/>
        </p:nvSpPr>
        <p:spPr>
          <a:xfrm>
            <a:off x="6263640" y="1188720"/>
            <a:ext cx="2423160" cy="1600200"/>
          </a:xfrm>
          <a:prstGeom prst="roundRect">
            <a:avLst>
              <a:gd name="adj" fmla="val 2857"/>
            </a:avLst>
          </a:prstGeom>
          <a:solidFill>
            <a:srgbClr val="010409"/>
          </a:solidFill>
          <a:ln w="12700">
            <a:solidFill>
              <a:srgbClr val="30363D"/>
            </a:solidFill>
            <a:prstDash val="solid"/>
          </a:ln>
        </p:spPr>
      </p:sp>
      <p:sp>
        <p:nvSpPr>
          <p:cNvPr id="19" name="Text 16"/>
          <p:cNvSpPr txBox="1"/>
          <p:nvPr/>
        </p:nvSpPr>
        <p:spPr>
          <a:xfrm>
            <a:off x="6373368" y="1280160"/>
            <a:ext cx="2203704" cy="1417320"/>
          </a:xfrm>
          <a:prstGeom prst="rect">
            <a:avLst/>
          </a:prstGeom>
          <a:noFill/>
          <a:ln/>
        </p:spPr>
        <p:txBody>
          <a:bodyPr wrap="square" lIns="0" tIns="0" rIns="0" bIns="0" rtlCol="0" anchor="t"/>
          <a:lstStyle/>
          <a:p>
            <a:pPr marL="0" indent="0">
              <a:buNone/>
            </a:pPr>
            <a:r>
              <a:rPr lang="en-US" sz="850" dirty="0">
                <a:solidFill>
                  <a:srgbClr val="C9D1D9"/>
                </a:solidFill>
                <a:latin typeface="Consolas" pitchFamily="34" charset="0"/>
                <a:ea typeface="Consolas" pitchFamily="34" charset="-122"/>
                <a:cs typeface="Consolas" pitchFamily="34" charset="-120"/>
              </a:rPr>
              <a:t>if (strcmp(entry-&gt;d_name,</a:t>
            </a:r>
            <a:endParaRPr lang="en-US" sz="850" dirty="0"/>
          </a:p>
          <a:p>
            <a:pPr marL="0" indent="0">
              <a:buNone/>
            </a:pPr>
            <a:r>
              <a:rPr lang="en-US" sz="850" dirty="0">
                <a:solidFill>
                  <a:srgbClr val="C9D1D9"/>
                </a:solidFill>
                <a:latin typeface="Consolas" pitchFamily="34" charset="0"/>
                <a:ea typeface="Consolas" pitchFamily="34" charset="-122"/>
                <a:cs typeface="Consolas" pitchFamily="34" charset="-120"/>
              </a:rPr>
              <a:t>           target) == 0)</a:t>
            </a:r>
            <a:endParaRPr lang="en-US" sz="850" dirty="0"/>
          </a:p>
          <a:p>
            <a:pPr marL="0" indent="0">
              <a:buNone/>
            </a:pPr>
            <a:r>
              <a:rPr lang="en-US" sz="850" dirty="0">
                <a:solidFill>
                  <a:srgbClr val="C9D1D9"/>
                </a:solidFill>
                <a:latin typeface="Consolas" pitchFamily="34" charset="0"/>
                <a:ea typeface="Consolas" pitchFamily="34" charset="-122"/>
                <a:cs typeface="Consolas" pitchFamily="34" charset="-120"/>
              </a:rPr>
              <a:t>  printf("Found: %s\n",</a:t>
            </a:r>
            <a:endParaRPr lang="en-US" sz="850" dirty="0"/>
          </a:p>
          <a:p>
            <a:pPr marL="0" indent="0">
              <a:buNone/>
            </a:pPr>
            <a:r>
              <a:rPr lang="en-US" sz="850" dirty="0">
                <a:solidFill>
                  <a:srgbClr val="C9D1D9"/>
                </a:solidFill>
                <a:latin typeface="Consolas" pitchFamily="34" charset="0"/>
                <a:ea typeface="Consolas" pitchFamily="34" charset="-122"/>
                <a:cs typeface="Consolas" pitchFamily="34" charset="-120"/>
              </a:rPr>
              <a:t>         fullpath);</a:t>
            </a:r>
            <a:endParaRPr lang="en-US" sz="850" dirty="0"/>
          </a:p>
          <a:p>
            <a:pPr marL="0" indent="0">
              <a:buNone/>
            </a:pPr>
            <a:r>
              <a:rPr lang="en-US" sz="850" dirty="0">
                <a:solidFill>
                  <a:srgbClr val="C9D1D9"/>
                </a:solidFill>
                <a:latin typeface="Consolas" pitchFamily="34" charset="0"/>
                <a:ea typeface="Consolas" pitchFamily="34" charset="-122"/>
                <a:cs typeface="Consolas" pitchFamily="34" charset="-120"/>
              </a:rPr>
              <a:t>if (entry-&gt;d_type == DT_DIR)</a:t>
            </a:r>
            <a:endParaRPr lang="en-US" sz="850" dirty="0"/>
          </a:p>
          <a:p>
            <a:pPr marL="0" indent="0">
              <a:buNone/>
            </a:pPr>
            <a:r>
              <a:rPr lang="en-US" sz="850" dirty="0">
                <a:solidFill>
                  <a:srgbClr val="C9D1D9"/>
                </a:solidFill>
                <a:latin typeface="Consolas" pitchFamily="34" charset="0"/>
                <a:ea typeface="Consolas" pitchFamily="34" charset="-122"/>
                <a:cs typeface="Consolas" pitchFamily="34" charset="-120"/>
              </a:rPr>
              <a:t>  search_directory(fullpath,</a:t>
            </a:r>
            <a:endParaRPr lang="en-US" sz="850" dirty="0"/>
          </a:p>
          <a:p>
            <a:pPr marL="0" indent="0">
              <a:buNone/>
            </a:pPr>
            <a:r>
              <a:rPr lang="en-US" sz="850" dirty="0">
                <a:solidFill>
                  <a:srgbClr val="C9D1D9"/>
                </a:solidFill>
                <a:latin typeface="Consolas" pitchFamily="34" charset="0"/>
                <a:ea typeface="Consolas" pitchFamily="34" charset="-122"/>
                <a:cs typeface="Consolas" pitchFamily="34" charset="-120"/>
              </a:rPr>
              <a:t>                   target);</a:t>
            </a:r>
            <a:endParaRPr lang="en-US" sz="850" dirty="0"/>
          </a:p>
        </p:txBody>
      </p:sp>
      <p:sp>
        <p:nvSpPr>
          <p:cNvPr id="20" name="Shape 17"/>
          <p:cNvSpPr/>
          <p:nvPr/>
        </p:nvSpPr>
        <p:spPr>
          <a:xfrm>
            <a:off x="3749040" y="3611880"/>
            <a:ext cx="4937760" cy="868680"/>
          </a:xfrm>
          <a:prstGeom prst="roundRect">
            <a:avLst>
              <a:gd name="adj" fmla="val 6316"/>
            </a:avLst>
          </a:prstGeom>
          <a:solidFill>
            <a:srgbClr val="161B22"/>
          </a:solidFill>
          <a:ln w="12700">
            <a:solidFill>
              <a:srgbClr val="30363D"/>
            </a:solidFill>
            <a:prstDash val="solid"/>
          </a:ln>
        </p:spPr>
      </p:sp>
      <p:sp>
        <p:nvSpPr>
          <p:cNvPr id="21" name="Text 18"/>
          <p:cNvSpPr txBox="1"/>
          <p:nvPr/>
        </p:nvSpPr>
        <p:spPr>
          <a:xfrm>
            <a:off x="3886200" y="3703320"/>
            <a:ext cx="4663440" cy="731520"/>
          </a:xfrm>
          <a:prstGeom prst="rect">
            <a:avLst/>
          </a:prstGeom>
          <a:noFill/>
          <a:ln/>
        </p:spPr>
        <p:txBody>
          <a:bodyPr wrap="square" lIns="0" tIns="0" rIns="0" bIns="0" rtlCol="0" anchor="t"/>
          <a:lstStyle/>
          <a:p>
            <a:pPr marL="0" indent="0">
              <a:buNone/>
            </a:pPr>
            <a:r>
              <a:rPr lang="en-US" sz="1000" dirty="0">
                <a:solidFill>
                  <a:srgbClr val="9DA7B3"/>
                </a:solidFill>
                <a:latin typeface="Calibri" pitchFamily="34" charset="0"/>
                <a:ea typeface="Calibri" pitchFamily="34" charset="-122"/>
                <a:cs typeface="Calibri" pitchFamily="34" charset="-120"/>
              </a:rPr>
              <a:t>Exact-name match on files and directories. Symlinks are not followed (DT_LNK ≠ DT_DIR). Open/read errors are skipped silently. One getdents64 batch per directory.</a:t>
            </a:r>
            <a:endParaRPr lang="en-US" sz="1000" dirty="0"/>
          </a:p>
        </p:txBody>
      </p:sp>
      <p:sp>
        <p:nvSpPr>
          <p:cNvPr id="22" name="Text 19"/>
          <p:cNvSpPr/>
          <p:nvPr/>
        </p:nvSpPr>
        <p:spPr>
          <a:xfrm>
            <a:off x="6263640" y="3017520"/>
            <a:ext cx="2423160" cy="237744"/>
          </a:xfrm>
          <a:prstGeom prst="roundRect">
            <a:avLst>
              <a:gd name="adj" fmla="val 50000"/>
            </a:avLst>
          </a:prstGeom>
          <a:solidFill>
            <a:srgbClr val="3FB950">
              <a:alpha val="20000"/>
            </a:srgbClr>
          </a:solidFill>
          <a:ln w="12700">
            <a:solidFill>
              <a:srgbClr val="3FB950"/>
            </a:solidFill>
          </a:ln>
        </p:spPr>
        <p:txBody>
          <a:bodyPr wrap="square" lIns="0" tIns="0" rIns="0" bIns="0" rtlCol="0" anchor="ctr"/>
          <a:lstStyle/>
          <a:p>
            <a:pPr marL="0" indent="0" algn="ctr">
              <a:buNone/>
            </a:pPr>
            <a:r>
              <a:rPr lang="en-US" sz="900" b="1" dirty="0">
                <a:solidFill>
                  <a:srgbClr val="3FB950"/>
                </a:solidFill>
                <a:latin typeface="Calibri" pitchFamily="34" charset="0"/>
                <a:ea typeface="Calibri" pitchFamily="34" charset="-122"/>
                <a:cs typeface="Calibri" pitchFamily="34" charset="-120"/>
              </a:rPr>
              <a:t>IMPLEMENTED (with limits)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Program Execution / Demo Flow</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The program is menu-driven: the user types a number, not a command.</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13</a:t>
            </a:r>
            <a:endParaRPr lang="en-US" sz="800" dirty="0"/>
          </a:p>
        </p:txBody>
      </p:sp>
      <p:sp>
        <p:nvSpPr>
          <p:cNvPr id="7" name="Shape 4"/>
          <p:cNvSpPr/>
          <p:nvPr/>
        </p:nvSpPr>
        <p:spPr>
          <a:xfrm>
            <a:off x="457200" y="1143000"/>
            <a:ext cx="2743200" cy="1097280"/>
          </a:xfrm>
          <a:prstGeom prst="roundRect">
            <a:avLst>
              <a:gd name="adj" fmla="val 4167"/>
            </a:avLst>
          </a:prstGeom>
          <a:solidFill>
            <a:srgbClr val="010409"/>
          </a:solidFill>
          <a:ln w="12700">
            <a:solidFill>
              <a:srgbClr val="30363D"/>
            </a:solidFill>
            <a:prstDash val="solid"/>
          </a:ln>
        </p:spPr>
      </p:sp>
      <p:sp>
        <p:nvSpPr>
          <p:cNvPr id="8" name="Text 5"/>
          <p:cNvSpPr txBox="1"/>
          <p:nvPr/>
        </p:nvSpPr>
        <p:spPr>
          <a:xfrm>
            <a:off x="566928" y="1234440"/>
            <a:ext cx="2523744" cy="914400"/>
          </a:xfrm>
          <a:prstGeom prst="rect">
            <a:avLst/>
          </a:prstGeom>
          <a:noFill/>
          <a:ln/>
        </p:spPr>
        <p:txBody>
          <a:bodyPr wrap="square" lIns="0" tIns="0" rIns="0" bIns="0" rtlCol="0" anchor="t"/>
          <a:lstStyle/>
          <a:p>
            <a:pPr marL="0" indent="0">
              <a:buNone/>
            </a:pPr>
            <a:r>
              <a:rPr lang="en-US" sz="1100" dirty="0">
                <a:solidFill>
                  <a:srgbClr val="C9D1D9"/>
                </a:solidFill>
                <a:latin typeface="Consolas" pitchFamily="34" charset="0"/>
                <a:ea typeface="Consolas" pitchFamily="34" charset="-122"/>
                <a:cs typeface="Consolas" pitchFamily="34" charset="-120"/>
              </a:rPr>
              <a:t>$ make</a:t>
            </a:r>
            <a:endParaRPr lang="en-US" sz="1100" dirty="0"/>
          </a:p>
          <a:p>
            <a:pPr marL="0" indent="0">
              <a:buNone/>
            </a:pPr>
            <a:r>
              <a:rPr lang="en-US" sz="1100" dirty="0">
                <a:solidFill>
                  <a:srgbClr val="C9D1D9"/>
                </a:solidFill>
                <a:latin typeface="Consolas" pitchFamily="34" charset="0"/>
                <a:ea typeface="Consolas" pitchFamily="34" charset="-122"/>
                <a:cs typeface="Consolas" pitchFamily="34" charset="-120"/>
              </a:rPr>
              <a:t>$ ./explorer</a:t>
            </a:r>
            <a:endParaRPr lang="en-US" sz="1100" dirty="0"/>
          </a:p>
          <a:p>
            <a:pPr marL="0" indent="0">
              <a:buNone/>
            </a:pPr>
            <a:r>
              <a:rPr lang="en-US" sz="1100" dirty="0">
                <a:solidFill>
                  <a:srgbClr val="C9D1D9"/>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C9D1D9"/>
                </a:solidFill>
                <a:latin typeface="Consolas" pitchFamily="34" charset="0"/>
                <a:ea typeface="Consolas" pitchFamily="34" charset="-122"/>
                <a:cs typeface="Consolas" pitchFamily="34" charset="-120"/>
              </a:rPr>
              <a:t>$ make clean</a:t>
            </a:r>
            <a:endParaRPr lang="en-US" sz="1100" dirty="0"/>
          </a:p>
        </p:txBody>
      </p:sp>
      <p:sp>
        <p:nvSpPr>
          <p:cNvPr id="9" name="Text 6"/>
          <p:cNvSpPr txBox="1"/>
          <p:nvPr/>
        </p:nvSpPr>
        <p:spPr>
          <a:xfrm>
            <a:off x="457200" y="2377440"/>
            <a:ext cx="2743200" cy="914400"/>
          </a:xfrm>
          <a:prstGeom prst="rect">
            <a:avLst/>
          </a:prstGeom>
          <a:noFill/>
          <a:ln/>
        </p:spPr>
        <p:txBody>
          <a:bodyPr wrap="square" lIns="0" tIns="0" rIns="0" bIns="0" rtlCol="0" anchor="t"/>
          <a:lstStyle/>
          <a:p>
            <a:pPr marL="0" indent="0">
              <a:buNone/>
            </a:pPr>
            <a:r>
              <a:rPr lang="en-US" sz="1000" dirty="0">
                <a:solidFill>
                  <a:srgbClr val="E3B341"/>
                </a:solidFill>
                <a:latin typeface="Calibri" pitchFamily="34" charset="0"/>
                <a:ea typeface="Calibri" pitchFamily="34" charset="-122"/>
                <a:cs typeface="Calibri" pitchFamily="34" charset="-120"/>
              </a:rPr>
              <a:t>Illustrative walkthrough built from source prompts; replace with your own screenshot before presenting.</a:t>
            </a:r>
            <a:endParaRPr lang="en-US" sz="1000" dirty="0"/>
          </a:p>
        </p:txBody>
      </p:sp>
      <p:sp>
        <p:nvSpPr>
          <p:cNvPr id="10" name="Text 7"/>
          <p:cNvSpPr txBox="1"/>
          <p:nvPr/>
        </p:nvSpPr>
        <p:spPr>
          <a:xfrm>
            <a:off x="457200" y="3291840"/>
            <a:ext cx="2743200" cy="548640"/>
          </a:xfrm>
          <a:prstGeom prst="rect">
            <a:avLst/>
          </a:prstGeom>
          <a:noFill/>
          <a:ln/>
        </p:spPr>
        <p:txBody>
          <a:bodyPr wrap="square" lIns="0" tIns="0" rIns="0" bIns="0" rtlCol="0" anchor="t"/>
          <a:lstStyle/>
          <a:p>
            <a:pPr marL="0" indent="0">
              <a:buNone/>
            </a:pPr>
            <a:r>
              <a:rPr lang="en-US" sz="1000" dirty="0">
                <a:solidFill>
                  <a:srgbClr val="9DA7B3"/>
                </a:solidFill>
                <a:latin typeface="Calibri" pitchFamily="34" charset="0"/>
                <a:ea typeface="Calibri" pitchFamily="34" charset="-122"/>
                <a:cs typeface="Calibri" pitchFamily="34" charset="-120"/>
              </a:rPr>
              <a:t>Repo "Program Output" file shows the menu screen only.</a:t>
            </a:r>
            <a:endParaRPr lang="en-US" sz="1000" dirty="0"/>
          </a:p>
        </p:txBody>
      </p:sp>
      <p:sp>
        <p:nvSpPr>
          <p:cNvPr id="11" name="Shape 8"/>
          <p:cNvSpPr/>
          <p:nvPr/>
        </p:nvSpPr>
        <p:spPr>
          <a:xfrm>
            <a:off x="3429000" y="1143000"/>
            <a:ext cx="5257800" cy="3383280"/>
          </a:xfrm>
          <a:prstGeom prst="roundRect">
            <a:avLst>
              <a:gd name="adj" fmla="val 1351"/>
            </a:avLst>
          </a:prstGeom>
          <a:solidFill>
            <a:srgbClr val="010409"/>
          </a:solidFill>
          <a:ln w="12700">
            <a:solidFill>
              <a:srgbClr val="30363D"/>
            </a:solidFill>
            <a:prstDash val="solid"/>
          </a:ln>
        </p:spPr>
      </p:sp>
      <p:sp>
        <p:nvSpPr>
          <p:cNvPr id="12" name="Text 9"/>
          <p:cNvSpPr txBox="1"/>
          <p:nvPr/>
        </p:nvSpPr>
        <p:spPr>
          <a:xfrm>
            <a:off x="3538728" y="1234440"/>
            <a:ext cx="5038344" cy="3200400"/>
          </a:xfrm>
          <a:prstGeom prst="rect">
            <a:avLst/>
          </a:prstGeom>
          <a:noFill/>
          <a:ln/>
        </p:spPr>
        <p:txBody>
          <a:bodyPr wrap="square" lIns="0" tIns="0" rIns="0" bIns="0" rtlCol="0" anchor="t"/>
          <a:lstStyle/>
          <a:p>
            <a:pPr marL="0" indent="0">
              <a:buNone/>
            </a:pPr>
            <a:r>
              <a:rPr lang="en-US" sz="900" dirty="0">
                <a:solidFill>
                  <a:srgbClr val="C9D1D9"/>
                </a:solidFill>
                <a:latin typeface="Consolas" pitchFamily="34" charset="0"/>
                <a:ea typeface="Consolas" pitchFamily="34" charset="-122"/>
                <a:cs typeface="Consolas" pitchFamily="34" charset="-120"/>
              </a:rPr>
              <a:t>Enter choice: 7</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new directory name: demo</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Directory created successfully.</a:t>
            </a:r>
            <a:endParaRPr lang="en-US" sz="900" dirty="0"/>
          </a:p>
          <a:p>
            <a:pPr marL="0" indent="0">
              <a:buNone/>
            </a:pP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choice: 2</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directory path: demo</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Directory changed successfully.</a:t>
            </a:r>
            <a:endParaRPr lang="en-US" sz="900" dirty="0"/>
          </a:p>
          <a:p>
            <a:pPr marL="0" indent="0">
              <a:buNone/>
            </a:pP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choice: 6</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new file name: notes.txt</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File created successfully.</a:t>
            </a:r>
            <a:endParaRPr lang="en-US" sz="900" dirty="0"/>
          </a:p>
          <a:p>
            <a:pPr marL="0" indent="0">
              <a:buNone/>
            </a:pP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choice: 1</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 [DIR ] .   [DIR ] ..   [FILE] notes.txt</a:t>
            </a:r>
            <a:endParaRPr lang="en-US" sz="900" dirty="0"/>
          </a:p>
          <a:p>
            <a:pPr marL="0" indent="0">
              <a:buNone/>
            </a:pP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choice: 11</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file/directory name to search: notes.txt</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Found: ./notes.txt</a:t>
            </a:r>
            <a:endParaRPr lang="en-US" sz="900" dirty="0"/>
          </a:p>
          <a:p>
            <a:pPr marL="0" indent="0">
              <a:buNone/>
            </a:pP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Enter choice: 12   → Exiting Linux File System Explorer...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System Call Execution Flow</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Example: menu option 4 (File Information) → stat().</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14</a:t>
            </a:r>
            <a:endParaRPr lang="en-US" sz="800" dirty="0"/>
          </a:p>
        </p:txBody>
      </p:sp>
      <p:sp>
        <p:nvSpPr>
          <p:cNvPr id="7" name="Text 4"/>
          <p:cNvSpPr txBox="1"/>
          <p:nvPr/>
        </p:nvSpPr>
        <p:spPr>
          <a:xfrm>
            <a:off x="457200" y="1005840"/>
            <a:ext cx="2743200" cy="182880"/>
          </a:xfrm>
          <a:prstGeom prst="rect">
            <a:avLst/>
          </a:prstGeom>
          <a:noFill/>
          <a:ln/>
        </p:spPr>
        <p:txBody>
          <a:bodyPr wrap="square" lIns="0" tIns="0" rIns="0" bIns="0" rtlCol="0" anchor="t"/>
          <a:lstStyle/>
          <a:p>
            <a:pPr marL="0" indent="0">
              <a:buNone/>
            </a:pPr>
            <a:r>
              <a:rPr lang="en-US" sz="900" b="1" dirty="0">
                <a:solidFill>
                  <a:srgbClr val="58A6FF"/>
                </a:solidFill>
                <a:latin typeface="Consolas" pitchFamily="34" charset="0"/>
                <a:ea typeface="Consolas" pitchFamily="34" charset="-122"/>
                <a:cs typeface="Consolas" pitchFamily="34" charset="-120"/>
              </a:rPr>
              <a:t>USER SPACE</a:t>
            </a:r>
            <a:endParaRPr lang="en-US" sz="900" dirty="0"/>
          </a:p>
        </p:txBody>
      </p:sp>
      <p:sp>
        <p:nvSpPr>
          <p:cNvPr id="8" name="Text 5"/>
          <p:cNvSpPr/>
          <p:nvPr/>
        </p:nvSpPr>
        <p:spPr>
          <a:xfrm>
            <a:off x="457200" y="1188720"/>
            <a:ext cx="1828800" cy="685800"/>
          </a:xfrm>
          <a:prstGeom prst="roundRect">
            <a:avLst>
              <a:gd name="adj" fmla="val 8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Menu choice</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fgets() + atoi()</a:t>
            </a:r>
            <a:endParaRPr lang="en-US" sz="950" dirty="0"/>
          </a:p>
        </p:txBody>
      </p:sp>
      <p:sp>
        <p:nvSpPr>
          <p:cNvPr id="9" name="Text 6"/>
          <p:cNvSpPr txBox="1"/>
          <p:nvPr/>
        </p:nvSpPr>
        <p:spPr>
          <a:xfrm>
            <a:off x="2286000" y="141732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0" name="Text 7"/>
          <p:cNvSpPr/>
          <p:nvPr/>
        </p:nvSpPr>
        <p:spPr>
          <a:xfrm>
            <a:off x="2587752" y="1188720"/>
            <a:ext cx="1828800" cy="685800"/>
          </a:xfrm>
          <a:prstGeom prst="roundRect">
            <a:avLst>
              <a:gd name="adj" fmla="val 8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main() switch</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case 4</a:t>
            </a:r>
            <a:endParaRPr lang="en-US" sz="950" dirty="0"/>
          </a:p>
        </p:txBody>
      </p:sp>
      <p:sp>
        <p:nvSpPr>
          <p:cNvPr id="11" name="Text 8"/>
          <p:cNvSpPr txBox="1"/>
          <p:nvPr/>
        </p:nvSpPr>
        <p:spPr>
          <a:xfrm>
            <a:off x="4416552" y="141732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2" name="Text 9"/>
          <p:cNvSpPr/>
          <p:nvPr/>
        </p:nvSpPr>
        <p:spPr>
          <a:xfrm>
            <a:off x="4718304" y="1188720"/>
            <a:ext cx="1828800" cy="685800"/>
          </a:xfrm>
          <a:prstGeom prst="roundRect">
            <a:avLst>
              <a:gd name="adj" fmla="val 8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file_information()</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reads filename</a:t>
            </a:r>
            <a:endParaRPr lang="en-US" sz="950" dirty="0"/>
          </a:p>
        </p:txBody>
      </p:sp>
      <p:sp>
        <p:nvSpPr>
          <p:cNvPr id="13" name="Text 10"/>
          <p:cNvSpPr txBox="1"/>
          <p:nvPr/>
        </p:nvSpPr>
        <p:spPr>
          <a:xfrm>
            <a:off x="6547104" y="141732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4" name="Text 11"/>
          <p:cNvSpPr/>
          <p:nvPr/>
        </p:nvSpPr>
        <p:spPr>
          <a:xfrm>
            <a:off x="6848856" y="1188720"/>
            <a:ext cx="1828800" cy="685800"/>
          </a:xfrm>
          <a:prstGeom prst="roundRect">
            <a:avLst>
              <a:gd name="adj" fmla="val 8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stat(filename,</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&amp;file_stat)</a:t>
            </a:r>
            <a:endParaRPr lang="en-US" sz="950" dirty="0"/>
          </a:p>
        </p:txBody>
      </p:sp>
      <p:sp>
        <p:nvSpPr>
          <p:cNvPr id="15" name="Text 12"/>
          <p:cNvSpPr txBox="1"/>
          <p:nvPr/>
        </p:nvSpPr>
        <p:spPr>
          <a:xfrm>
            <a:off x="457200" y="1901952"/>
            <a:ext cx="2743200" cy="182880"/>
          </a:xfrm>
          <a:prstGeom prst="rect">
            <a:avLst/>
          </a:prstGeom>
          <a:noFill/>
          <a:ln/>
        </p:spPr>
        <p:txBody>
          <a:bodyPr wrap="square" lIns="0" tIns="0" rIns="0" bIns="0" rtlCol="0" anchor="t"/>
          <a:lstStyle/>
          <a:p>
            <a:pPr marL="0" indent="0">
              <a:buNone/>
            </a:pPr>
            <a:r>
              <a:rPr lang="en-US" sz="850" dirty="0">
                <a:solidFill>
                  <a:srgbClr val="E3B341"/>
                </a:solidFill>
                <a:latin typeface="Consolas" pitchFamily="34" charset="0"/>
                <a:ea typeface="Consolas" pitchFamily="34" charset="-122"/>
                <a:cs typeface="Consolas" pitchFamily="34" charset="-120"/>
              </a:rPr>
              <a:t>▼  system call boundary</a:t>
            </a:r>
            <a:endParaRPr lang="en-US" sz="850" dirty="0"/>
          </a:p>
        </p:txBody>
      </p:sp>
      <p:sp>
        <p:nvSpPr>
          <p:cNvPr id="16" name="Text 13"/>
          <p:cNvSpPr txBox="1"/>
          <p:nvPr/>
        </p:nvSpPr>
        <p:spPr>
          <a:xfrm>
            <a:off x="457200" y="2057400"/>
            <a:ext cx="2743200" cy="182880"/>
          </a:xfrm>
          <a:prstGeom prst="rect">
            <a:avLst/>
          </a:prstGeom>
          <a:noFill/>
          <a:ln/>
        </p:spPr>
        <p:txBody>
          <a:bodyPr wrap="square" lIns="0" tIns="0" rIns="0" bIns="0" rtlCol="0" anchor="t"/>
          <a:lstStyle/>
          <a:p>
            <a:pPr marL="0" indent="0">
              <a:buNone/>
            </a:pPr>
            <a:r>
              <a:rPr lang="en-US" sz="900" b="1" dirty="0">
                <a:solidFill>
                  <a:srgbClr val="3FB950"/>
                </a:solidFill>
                <a:latin typeface="Consolas" pitchFamily="34" charset="0"/>
                <a:ea typeface="Consolas" pitchFamily="34" charset="-122"/>
                <a:cs typeface="Consolas" pitchFamily="34" charset="-120"/>
              </a:rPr>
              <a:t>KERNEL SPACE</a:t>
            </a:r>
            <a:endParaRPr lang="en-US" sz="900" dirty="0"/>
          </a:p>
        </p:txBody>
      </p:sp>
      <p:sp>
        <p:nvSpPr>
          <p:cNvPr id="17" name="Text 14"/>
          <p:cNvSpPr/>
          <p:nvPr/>
        </p:nvSpPr>
        <p:spPr>
          <a:xfrm>
            <a:off x="457200" y="2240280"/>
            <a:ext cx="1828800" cy="685800"/>
          </a:xfrm>
          <a:prstGeom prst="roundRect">
            <a:avLst>
              <a:gd name="adj" fmla="val 8000"/>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syscall instruction</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CPU → kernel mode</a:t>
            </a:r>
            <a:endParaRPr lang="en-US" sz="950" dirty="0"/>
          </a:p>
        </p:txBody>
      </p:sp>
      <p:sp>
        <p:nvSpPr>
          <p:cNvPr id="18" name="Text 15"/>
          <p:cNvSpPr txBox="1"/>
          <p:nvPr/>
        </p:nvSpPr>
        <p:spPr>
          <a:xfrm>
            <a:off x="2286000" y="246888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2587752" y="2240280"/>
            <a:ext cx="1828800" cy="685800"/>
          </a:xfrm>
          <a:prstGeom prst="roundRect">
            <a:avLst>
              <a:gd name="adj" fmla="val 8000"/>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VFS: path lookup</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FS driver, inode</a:t>
            </a:r>
            <a:endParaRPr lang="en-US" sz="950" dirty="0"/>
          </a:p>
        </p:txBody>
      </p:sp>
      <p:sp>
        <p:nvSpPr>
          <p:cNvPr id="20" name="Text 17"/>
          <p:cNvSpPr txBox="1"/>
          <p:nvPr/>
        </p:nvSpPr>
        <p:spPr>
          <a:xfrm>
            <a:off x="4416552" y="246888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4718304" y="2240280"/>
            <a:ext cx="1828800" cy="685800"/>
          </a:xfrm>
          <a:prstGeom prst="roundRect">
            <a:avLst>
              <a:gd name="adj" fmla="val 8000"/>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Fill struct stat</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or return -1 + errno</a:t>
            </a:r>
            <a:endParaRPr lang="en-US" sz="950" dirty="0"/>
          </a:p>
        </p:txBody>
      </p:sp>
      <p:sp>
        <p:nvSpPr>
          <p:cNvPr id="22" name="Text 19"/>
          <p:cNvSpPr txBox="1"/>
          <p:nvPr/>
        </p:nvSpPr>
        <p:spPr>
          <a:xfrm>
            <a:off x="6547104" y="246888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23" name="Text 20"/>
          <p:cNvSpPr/>
          <p:nvPr/>
        </p:nvSpPr>
        <p:spPr>
          <a:xfrm>
            <a:off x="6848856" y="2240280"/>
            <a:ext cx="1828800" cy="685800"/>
          </a:xfrm>
          <a:prstGeom prst="roundRect">
            <a:avLst>
              <a:gd name="adj" fmla="val 8000"/>
            </a:avLst>
          </a:prstGeom>
          <a:solidFill>
            <a:srgbClr val="161B22"/>
          </a:solidFill>
          <a:ln w="15875">
            <a:solidFill>
              <a:srgbClr val="3FB950"/>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Return to</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user mode</a:t>
            </a:r>
            <a:endParaRPr lang="en-US" sz="950" dirty="0"/>
          </a:p>
        </p:txBody>
      </p:sp>
      <p:sp>
        <p:nvSpPr>
          <p:cNvPr id="24" name="Text 21"/>
          <p:cNvSpPr txBox="1"/>
          <p:nvPr/>
        </p:nvSpPr>
        <p:spPr>
          <a:xfrm>
            <a:off x="457200" y="2953512"/>
            <a:ext cx="2743200" cy="182880"/>
          </a:xfrm>
          <a:prstGeom prst="rect">
            <a:avLst/>
          </a:prstGeom>
          <a:noFill/>
          <a:ln/>
        </p:spPr>
        <p:txBody>
          <a:bodyPr wrap="square" lIns="0" tIns="0" rIns="0" bIns="0" rtlCol="0" anchor="t"/>
          <a:lstStyle/>
          <a:p>
            <a:pPr marL="0" indent="0">
              <a:buNone/>
            </a:pPr>
            <a:r>
              <a:rPr lang="en-US" sz="850" dirty="0">
                <a:solidFill>
                  <a:srgbClr val="E3B341"/>
                </a:solidFill>
                <a:latin typeface="Consolas" pitchFamily="34" charset="0"/>
                <a:ea typeface="Consolas" pitchFamily="34" charset="-122"/>
                <a:cs typeface="Consolas" pitchFamily="34" charset="-120"/>
              </a:rPr>
              <a:t>▼  back to user space</a:t>
            </a:r>
            <a:endParaRPr lang="en-US" sz="850" dirty="0"/>
          </a:p>
        </p:txBody>
      </p:sp>
      <p:sp>
        <p:nvSpPr>
          <p:cNvPr id="25" name="Text 22"/>
          <p:cNvSpPr txBox="1"/>
          <p:nvPr/>
        </p:nvSpPr>
        <p:spPr>
          <a:xfrm>
            <a:off x="457200" y="3108960"/>
            <a:ext cx="2743200" cy="182880"/>
          </a:xfrm>
          <a:prstGeom prst="rect">
            <a:avLst/>
          </a:prstGeom>
          <a:noFill/>
          <a:ln/>
        </p:spPr>
        <p:txBody>
          <a:bodyPr wrap="square" lIns="0" tIns="0" rIns="0" bIns="0" rtlCol="0" anchor="t"/>
          <a:lstStyle/>
          <a:p>
            <a:pPr marL="0" indent="0">
              <a:buNone/>
            </a:pPr>
            <a:r>
              <a:rPr lang="en-US" sz="900" b="1" dirty="0">
                <a:solidFill>
                  <a:srgbClr val="58A6FF"/>
                </a:solidFill>
                <a:latin typeface="Consolas" pitchFamily="34" charset="0"/>
                <a:ea typeface="Consolas" pitchFamily="34" charset="-122"/>
                <a:cs typeface="Consolas" pitchFamily="34" charset="-120"/>
              </a:rPr>
              <a:t>USER SPACE</a:t>
            </a:r>
            <a:endParaRPr lang="en-US" sz="900" dirty="0"/>
          </a:p>
        </p:txBody>
      </p:sp>
      <p:sp>
        <p:nvSpPr>
          <p:cNvPr id="26" name="Text 23"/>
          <p:cNvSpPr/>
          <p:nvPr/>
        </p:nvSpPr>
        <p:spPr>
          <a:xfrm>
            <a:off x="457200" y="3291840"/>
            <a:ext cx="1828800" cy="685800"/>
          </a:xfrm>
          <a:prstGeom prst="roundRect">
            <a:avLst>
              <a:gd name="adj" fmla="val 8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Check return</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value</a:t>
            </a:r>
            <a:endParaRPr lang="en-US" sz="950" dirty="0"/>
          </a:p>
        </p:txBody>
      </p:sp>
      <p:sp>
        <p:nvSpPr>
          <p:cNvPr id="27" name="Text 24"/>
          <p:cNvSpPr txBox="1"/>
          <p:nvPr/>
        </p:nvSpPr>
        <p:spPr>
          <a:xfrm>
            <a:off x="2286000" y="352044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2587752" y="3291840"/>
            <a:ext cx="1828800" cy="685800"/>
          </a:xfrm>
          <a:prstGeom prst="roundRect">
            <a:avLst>
              <a:gd name="adj" fmla="val 8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-1 → perror("stat")</a:t>
            </a:r>
            <a:endParaRPr lang="en-US" sz="950" dirty="0"/>
          </a:p>
        </p:txBody>
      </p:sp>
      <p:sp>
        <p:nvSpPr>
          <p:cNvPr id="29" name="Text 26"/>
          <p:cNvSpPr txBox="1"/>
          <p:nvPr/>
        </p:nvSpPr>
        <p:spPr>
          <a:xfrm>
            <a:off x="4416552" y="352044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30" name="Text 27"/>
          <p:cNvSpPr/>
          <p:nvPr/>
        </p:nvSpPr>
        <p:spPr>
          <a:xfrm>
            <a:off x="4718304" y="3291840"/>
            <a:ext cx="1828800" cy="685800"/>
          </a:xfrm>
          <a:prstGeom prst="roundRect">
            <a:avLst>
              <a:gd name="adj" fmla="val 8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0 → printf() fields</a:t>
            </a:r>
            <a:endParaRPr lang="en-US" sz="950" dirty="0"/>
          </a:p>
          <a:p>
            <a:pPr marL="0" indent="0" algn="ctr">
              <a:buNone/>
            </a:pPr>
            <a:r>
              <a:rPr lang="en-US" sz="950" dirty="0">
                <a:solidFill>
                  <a:srgbClr val="E6EDF3"/>
                </a:solidFill>
                <a:latin typeface="Calibri" pitchFamily="34" charset="0"/>
                <a:ea typeface="Calibri" pitchFamily="34" charset="-122"/>
                <a:cs typeface="Calibri" pitchFamily="34" charset="-120"/>
              </a:rPr>
              <a:t>S_ISREG, st_mode ...</a:t>
            </a:r>
            <a:endParaRPr lang="en-US" sz="950" dirty="0"/>
          </a:p>
        </p:txBody>
      </p:sp>
      <p:sp>
        <p:nvSpPr>
          <p:cNvPr id="31" name="Text 28"/>
          <p:cNvSpPr txBox="1"/>
          <p:nvPr/>
        </p:nvSpPr>
        <p:spPr>
          <a:xfrm>
            <a:off x="6547104" y="3520440"/>
            <a:ext cx="301752" cy="228600"/>
          </a:xfrm>
          <a:prstGeom prst="rect">
            <a:avLst/>
          </a:prstGeom>
          <a:noFill/>
          <a:ln/>
        </p:spPr>
        <p:txBody>
          <a:bodyPr wrap="square" lIns="0" tIns="0" rIns="0" bIns="0" rtlCol="0" anchor="t"/>
          <a:lstStyle/>
          <a:p>
            <a:pPr marL="0" indent="0" algn="ctr">
              <a:buNone/>
            </a:pPr>
            <a:r>
              <a:rPr lang="en-US" sz="1100" b="1" dirty="0">
                <a:solidFill>
                  <a:srgbClr val="3FB950"/>
                </a:solidFill>
                <a:latin typeface="Calibri" pitchFamily="34" charset="0"/>
                <a:ea typeface="Calibri" pitchFamily="34" charset="-122"/>
                <a:cs typeface="Calibri" pitchFamily="34" charset="-120"/>
              </a:rPr>
              <a:t>▶</a:t>
            </a:r>
            <a:endParaRPr lang="en-US" sz="1100" dirty="0"/>
          </a:p>
        </p:txBody>
      </p:sp>
      <p:sp>
        <p:nvSpPr>
          <p:cNvPr id="32" name="Text 29"/>
          <p:cNvSpPr/>
          <p:nvPr/>
        </p:nvSpPr>
        <p:spPr>
          <a:xfrm>
            <a:off x="6848856" y="3291840"/>
            <a:ext cx="1828800" cy="685800"/>
          </a:xfrm>
          <a:prstGeom prst="roundRect">
            <a:avLst>
              <a:gd name="adj" fmla="val 8000"/>
            </a:avLst>
          </a:prstGeom>
          <a:solidFill>
            <a:srgbClr val="161B22"/>
          </a:solidFill>
          <a:ln w="15875">
            <a:solidFill>
              <a:srgbClr val="58A6FF"/>
            </a:solidFill>
          </a:ln>
        </p:spPr>
        <p:txBody>
          <a:bodyPr wrap="square" lIns="38100" tIns="38100" rIns="38100" bIns="38100" rtlCol="0" anchor="ctr"/>
          <a:lstStyle/>
          <a:p>
            <a:pPr marL="0" indent="0" algn="ctr">
              <a:buNone/>
            </a:pPr>
            <a:r>
              <a:rPr lang="en-US" sz="950" dirty="0">
                <a:solidFill>
                  <a:srgbClr val="E6EDF3"/>
                </a:solidFill>
                <a:latin typeface="Calibri" pitchFamily="34" charset="0"/>
                <a:ea typeface="Calibri" pitchFamily="34" charset="-122"/>
                <a:cs typeface="Calibri" pitchFamily="34" charset="-120"/>
              </a:rPr>
              <a:t>Terminal output</a:t>
            </a:r>
            <a:endParaRPr lang="en-US" sz="950" dirty="0"/>
          </a:p>
        </p:txBody>
      </p:sp>
      <p:sp>
        <p:nvSpPr>
          <p:cNvPr id="33" name="Text 30"/>
          <p:cNvSpPr txBox="1"/>
          <p:nvPr/>
        </p:nvSpPr>
        <p:spPr>
          <a:xfrm>
            <a:off x="457200" y="4434840"/>
            <a:ext cx="8229600" cy="365760"/>
          </a:xfrm>
          <a:prstGeom prst="rect">
            <a:avLst/>
          </a:prstGeom>
          <a:noFill/>
          <a:ln/>
        </p:spPr>
        <p:txBody>
          <a:bodyPr wrap="square" lIns="0" tIns="0" rIns="0" bIns="0" rtlCol="0" anchor="t"/>
          <a:lstStyle/>
          <a:p>
            <a:pPr marL="0" indent="0">
              <a:buNone/>
            </a:pPr>
            <a:r>
              <a:rPr lang="en-US" sz="1000" dirty="0">
                <a:solidFill>
                  <a:srgbClr val="9DA7B3"/>
                </a:solidFill>
                <a:latin typeface="Calibri" pitchFamily="34" charset="0"/>
                <a:ea typeface="Calibri" pitchFamily="34" charset="-122"/>
                <a:cs typeface="Calibri" pitchFamily="34" charset="-120"/>
              </a:rPr>
              <a:t>Context: the mode switch is a trap into the kernel (not a full process context switch); registers are saved and restored around the call.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t"/>
          <a:lstStyle/>
          <a:p>
            <a:pPr marL="0" indent="0">
              <a:buNone/>
            </a:pPr>
            <a:r>
              <a:rPr lang="en-US" sz="2400" b="1" dirty="0">
                <a:solidFill>
                  <a:srgbClr val="3FB950"/>
                </a:solidFill>
                <a:latin typeface="Consolas" pitchFamily="34" charset="0"/>
                <a:ea typeface="Consolas" pitchFamily="34" charset="-122"/>
                <a:cs typeface="Consolas" pitchFamily="34" charset="-120"/>
              </a:rPr>
              <a:t>$ </a:t>
            </a:r>
            <a:r>
              <a:rPr lang="en-US" sz="2400" b="1" dirty="0">
                <a:solidFill>
                  <a:srgbClr val="E6EDF3"/>
                </a:solidFill>
                <a:latin typeface="Calibri" pitchFamily="34" charset="0"/>
                <a:ea typeface="Calibri" pitchFamily="34" charset="-122"/>
                <a:cs typeface="Calibri" pitchFamily="34" charset="-120"/>
              </a:rPr>
              <a:t>Conclusion &amp; Future Scope</a:t>
            </a:r>
            <a:endParaRPr lang="en-US" sz="2400" dirty="0"/>
          </a:p>
        </p:txBody>
      </p:sp>
      <p:sp>
        <p:nvSpPr>
          <p:cNvPr id="3" name="Text 1"/>
          <p:cNvSpPr txBox="1"/>
          <p:nvPr/>
        </p:nvSpPr>
        <p:spPr>
          <a:xfrm>
            <a:off x="457200" y="731520"/>
            <a:ext cx="8229600" cy="274320"/>
          </a:xfrm>
          <a:prstGeom prst="rect">
            <a:avLst/>
          </a:prstGeom>
          <a:noFill/>
          <a:ln/>
        </p:spPr>
        <p:txBody>
          <a:bodyPr wrap="square" lIns="0" tIns="0" rIns="0" bIns="0" rtlCol="0" anchor="t"/>
          <a:lstStyle/>
          <a:p>
            <a:pPr marL="0" indent="0">
              <a:buNone/>
            </a:pPr>
            <a:r>
              <a:rPr lang="en-US" sz="1200" dirty="0">
                <a:solidFill>
                  <a:srgbClr val="9DA7B3"/>
                </a:solidFill>
                <a:latin typeface="Calibri" pitchFamily="34" charset="0"/>
                <a:ea typeface="Calibri" pitchFamily="34" charset="-122"/>
                <a:cs typeface="Calibri" pitchFamily="34" charset="-120"/>
              </a:rPr>
              <a:t>What we built, where it stops, and what is proposed.</a:t>
            </a:r>
            <a:endParaRPr lang="en-US" sz="12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800" dirty="0">
                <a:solidFill>
                  <a:srgbClr val="9DA7B3"/>
                </a:solidFill>
                <a:latin typeface="Calibri" pitchFamily="34" charset="0"/>
                <a:ea typeface="Calibri" pitchFamily="34" charset="-122"/>
                <a:cs typeface="Calibri" pitchFamily="34" charset="-120"/>
              </a:rPr>
              <a:t>Linux File System Explorer Using System Calls  |  Operating Systems / System Programming</a:t>
            </a:r>
            <a:endParaRPr lang="en-US" sz="800" dirty="0"/>
          </a:p>
        </p:txBody>
      </p:sp>
      <p:sp>
        <p:nvSpPr>
          <p:cNvPr id="5" name="Text 3"/>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00" dirty="0">
                <a:solidFill>
                  <a:srgbClr val="9DA7B3"/>
                </a:solidFill>
                <a:latin typeface="Calibri" pitchFamily="34" charset="0"/>
                <a:ea typeface="Calibri" pitchFamily="34" charset="-122"/>
                <a:cs typeface="Calibri" pitchFamily="34" charset="-120"/>
              </a:rPr>
              <a:t>15</a:t>
            </a:r>
            <a:endParaRPr lang="en-US" sz="800" dirty="0"/>
          </a:p>
        </p:txBody>
      </p:sp>
      <p:sp>
        <p:nvSpPr>
          <p:cNvPr id="7" name="Shape 4"/>
          <p:cNvSpPr/>
          <p:nvPr/>
        </p:nvSpPr>
        <p:spPr>
          <a:xfrm>
            <a:off x="457200" y="1097280"/>
            <a:ext cx="2651760" cy="3429000"/>
          </a:xfrm>
          <a:prstGeom prst="roundRect">
            <a:avLst>
              <a:gd name="adj" fmla="val 2069"/>
            </a:avLst>
          </a:prstGeom>
          <a:solidFill>
            <a:srgbClr val="161B22"/>
          </a:solidFill>
          <a:ln w="12700">
            <a:solidFill>
              <a:srgbClr val="3FB950"/>
            </a:solidFill>
            <a:prstDash val="solid"/>
          </a:ln>
        </p:spPr>
      </p:sp>
      <p:sp>
        <p:nvSpPr>
          <p:cNvPr id="8" name="Text 5"/>
          <p:cNvSpPr txBox="1"/>
          <p:nvPr/>
        </p:nvSpPr>
        <p:spPr>
          <a:xfrm>
            <a:off x="594360" y="1188720"/>
            <a:ext cx="2377440" cy="274320"/>
          </a:xfrm>
          <a:prstGeom prst="rect">
            <a:avLst/>
          </a:prstGeom>
          <a:noFill/>
          <a:ln/>
        </p:spPr>
        <p:txBody>
          <a:bodyPr wrap="square" lIns="0" tIns="0" rIns="0" bIns="0" rtlCol="0" anchor="t"/>
          <a:lstStyle/>
          <a:p>
            <a:pPr marL="0" indent="0">
              <a:buNone/>
            </a:pPr>
            <a:r>
              <a:rPr lang="en-US" sz="1250" b="1" dirty="0">
                <a:solidFill>
                  <a:srgbClr val="3FB950"/>
                </a:solidFill>
                <a:latin typeface="Calibri" pitchFamily="34" charset="0"/>
                <a:ea typeface="Calibri" pitchFamily="34" charset="-122"/>
                <a:cs typeface="Calibri" pitchFamily="34" charset="-120"/>
              </a:rPr>
              <a:t>Conclusion (implemented)</a:t>
            </a:r>
            <a:endParaRPr lang="en-US" sz="1250" dirty="0"/>
          </a:p>
        </p:txBody>
      </p:sp>
      <p:sp>
        <p:nvSpPr>
          <p:cNvPr id="9" name="Text 6"/>
          <p:cNvSpPr txBox="1"/>
          <p:nvPr/>
        </p:nvSpPr>
        <p:spPr>
          <a:xfrm>
            <a:off x="594360" y="1554480"/>
            <a:ext cx="2377440" cy="23774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Filesystem operations</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System calls</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File descriptors</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Directory traversal</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File metadata</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Kernel interaction</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C system programming</a:t>
            </a:r>
            <a:endParaRPr lang="en-US" sz="1100" dirty="0"/>
          </a:p>
        </p:txBody>
      </p:sp>
      <p:sp>
        <p:nvSpPr>
          <p:cNvPr id="10" name="Shape 7"/>
          <p:cNvSpPr/>
          <p:nvPr/>
        </p:nvSpPr>
        <p:spPr>
          <a:xfrm>
            <a:off x="3246120" y="1097280"/>
            <a:ext cx="2651760" cy="3429000"/>
          </a:xfrm>
          <a:prstGeom prst="roundRect">
            <a:avLst>
              <a:gd name="adj" fmla="val 2069"/>
            </a:avLst>
          </a:prstGeom>
          <a:solidFill>
            <a:srgbClr val="161B22"/>
          </a:solidFill>
          <a:ln w="12700">
            <a:solidFill>
              <a:srgbClr val="E3B341"/>
            </a:solidFill>
            <a:prstDash val="solid"/>
          </a:ln>
        </p:spPr>
      </p:sp>
      <p:sp>
        <p:nvSpPr>
          <p:cNvPr id="11" name="Text 8"/>
          <p:cNvSpPr txBox="1"/>
          <p:nvPr/>
        </p:nvSpPr>
        <p:spPr>
          <a:xfrm>
            <a:off x="3383280" y="1188720"/>
            <a:ext cx="2377440" cy="274320"/>
          </a:xfrm>
          <a:prstGeom prst="rect">
            <a:avLst/>
          </a:prstGeom>
          <a:noFill/>
          <a:ln/>
        </p:spPr>
        <p:txBody>
          <a:bodyPr wrap="square" lIns="0" tIns="0" rIns="0" bIns="0" rtlCol="0" anchor="t"/>
          <a:lstStyle/>
          <a:p>
            <a:pPr marL="0" indent="0">
              <a:buNone/>
            </a:pPr>
            <a:r>
              <a:rPr lang="en-US" sz="1250" b="1" dirty="0">
                <a:solidFill>
                  <a:srgbClr val="E3B341"/>
                </a:solidFill>
                <a:latin typeface="Calibri" pitchFamily="34" charset="0"/>
                <a:ea typeface="Calibri" pitchFamily="34" charset="-122"/>
                <a:cs typeface="Calibri" pitchFamily="34" charset="-120"/>
              </a:rPr>
              <a:t>Current limitations</a:t>
            </a:r>
            <a:endParaRPr lang="en-US" sz="1250" dirty="0"/>
          </a:p>
        </p:txBody>
      </p:sp>
      <p:sp>
        <p:nvSpPr>
          <p:cNvPr id="12" name="Text 9"/>
          <p:cNvSpPr txBox="1"/>
          <p:nvPr/>
        </p:nvSpPr>
        <p:spPr>
          <a:xfrm>
            <a:off x="3383280" y="1554480"/>
            <a:ext cx="2377440" cy="23774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One getdents64 batch per listing</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Empty directories only for delete</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No delete confirmation</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stat() follows symlinks</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Search: exact name only</a:t>
            </a:r>
            <a:endParaRPr lang="en-US" sz="1100" dirty="0"/>
          </a:p>
          <a:p>
            <a:pPr marL="342900" indent="-342900">
              <a:spcAft>
                <a:spcPts val="500"/>
              </a:spcAft>
              <a:buSzPct val="100000"/>
              <a:buChar char="•"/>
            </a:pPr>
            <a:r>
              <a:rPr lang="en-US" sz="1100" dirty="0">
                <a:solidFill>
                  <a:srgbClr val="E6EDF3"/>
                </a:solidFill>
                <a:latin typeface="Calibri" pitchFamily="34" charset="0"/>
                <a:ea typeface="Calibri" pitchFamily="34" charset="-122"/>
                <a:cs typeface="Calibri" pitchFamily="34" charset="-120"/>
              </a:rPr>
              <a:t>No copy / move / edit</a:t>
            </a:r>
            <a:endParaRPr lang="en-US" sz="1100" dirty="0"/>
          </a:p>
        </p:txBody>
      </p:sp>
      <p:sp>
        <p:nvSpPr>
          <p:cNvPr id="13" name="Shape 10"/>
          <p:cNvSpPr/>
          <p:nvPr/>
        </p:nvSpPr>
        <p:spPr>
          <a:xfrm>
            <a:off x="6035040" y="1097280"/>
            <a:ext cx="2651760" cy="3429000"/>
          </a:xfrm>
          <a:prstGeom prst="roundRect">
            <a:avLst>
              <a:gd name="adj" fmla="val 2069"/>
            </a:avLst>
          </a:prstGeom>
          <a:solidFill>
            <a:srgbClr val="161B22"/>
          </a:solidFill>
          <a:ln w="12700">
            <a:solidFill>
              <a:srgbClr val="58A6FF"/>
            </a:solidFill>
            <a:prstDash val="solid"/>
          </a:ln>
        </p:spPr>
      </p:sp>
      <p:sp>
        <p:nvSpPr>
          <p:cNvPr id="14" name="Text 11"/>
          <p:cNvSpPr txBox="1"/>
          <p:nvPr/>
        </p:nvSpPr>
        <p:spPr>
          <a:xfrm>
            <a:off x="6172200" y="1188720"/>
            <a:ext cx="2377440" cy="274320"/>
          </a:xfrm>
          <a:prstGeom prst="rect">
            <a:avLst/>
          </a:prstGeom>
          <a:noFill/>
          <a:ln/>
        </p:spPr>
        <p:txBody>
          <a:bodyPr wrap="square" lIns="0" tIns="0" rIns="0" bIns="0" rtlCol="0" anchor="t"/>
          <a:lstStyle/>
          <a:p>
            <a:pPr marL="0" indent="0">
              <a:buNone/>
            </a:pPr>
            <a:r>
              <a:rPr lang="en-US" sz="1250" b="1" dirty="0">
                <a:solidFill>
                  <a:srgbClr val="58A6FF"/>
                </a:solidFill>
                <a:latin typeface="Calibri" pitchFamily="34" charset="0"/>
                <a:ea typeface="Calibri" pitchFamily="34" charset="-122"/>
                <a:cs typeface="Calibri" pitchFamily="34" charset="-120"/>
              </a:rPr>
              <a:t>Future scope (proposed)</a:t>
            </a:r>
            <a:endParaRPr lang="en-US" sz="1250" dirty="0"/>
          </a:p>
        </p:txBody>
      </p:sp>
      <p:sp>
        <p:nvSpPr>
          <p:cNvPr id="15" name="Text 12"/>
          <p:cNvSpPr txBox="1"/>
          <p:nvPr/>
        </p:nvSpPr>
        <p:spPr>
          <a:xfrm>
            <a:off x="6172200" y="1554480"/>
            <a:ext cx="2377440" cy="29260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E6EDF3"/>
                </a:solidFill>
                <a:latin typeface="Calibri" pitchFamily="34" charset="0"/>
                <a:ea typeface="Calibri" pitchFamily="34" charset="-122"/>
                <a:cs typeface="Calibri" pitchFamily="34" charset="-120"/>
              </a:rPr>
              <a:t>Copy and move</a:t>
            </a:r>
            <a:endParaRPr lang="en-US" sz="1100" dirty="0"/>
          </a:p>
          <a:p>
            <a:pPr marL="342900" indent="-342900">
              <a:spcAft>
                <a:spcPts val="400"/>
              </a:spcAft>
              <a:buSzPct val="100000"/>
              <a:buChar char="•"/>
            </a:pPr>
            <a:r>
              <a:rPr lang="en-US" sz="1100" dirty="0">
                <a:solidFill>
                  <a:srgbClr val="E6EDF3"/>
                </a:solidFill>
                <a:latin typeface="Calibri" pitchFamily="34" charset="0"/>
                <a:ea typeface="Calibri" pitchFamily="34" charset="-122"/>
                <a:cs typeface="Calibri" pitchFamily="34" charset="-120"/>
              </a:rPr>
              <a:t>Permission management</a:t>
            </a:r>
            <a:endParaRPr lang="en-US" sz="1100" dirty="0"/>
          </a:p>
          <a:p>
            <a:pPr marL="342900" indent="-342900">
              <a:spcAft>
                <a:spcPts val="400"/>
              </a:spcAft>
              <a:buSzPct val="100000"/>
              <a:buChar char="•"/>
            </a:pPr>
            <a:r>
              <a:rPr lang="en-US" sz="1100" dirty="0">
                <a:solidFill>
                  <a:srgbClr val="E6EDF3"/>
                </a:solidFill>
                <a:latin typeface="Calibri" pitchFamily="34" charset="0"/>
                <a:ea typeface="Calibri" pitchFamily="34" charset="-122"/>
                <a:cs typeface="Calibri" pitchFamily="34" charset="-120"/>
              </a:rPr>
              <a:t>Advanced search filters</a:t>
            </a:r>
            <a:endParaRPr lang="en-US" sz="1100" dirty="0"/>
          </a:p>
          <a:p>
            <a:pPr marL="342900" indent="-342900">
              <a:spcAft>
                <a:spcPts val="400"/>
              </a:spcAft>
              <a:buSzPct val="100000"/>
              <a:buChar char="•"/>
            </a:pPr>
            <a:r>
              <a:rPr lang="en-US" sz="1100" dirty="0">
                <a:solidFill>
                  <a:srgbClr val="E6EDF3"/>
                </a:solidFill>
                <a:latin typeface="Calibri" pitchFamily="34" charset="0"/>
                <a:ea typeface="Calibri" pitchFamily="34" charset="-122"/>
                <a:cs typeface="Calibri" pitchFamily="34" charset="-120"/>
              </a:rPr>
              <a:t>Sorting, tree view</a:t>
            </a:r>
            <a:endParaRPr lang="en-US" sz="1100" dirty="0"/>
          </a:p>
          <a:p>
            <a:pPr marL="342900" indent="-342900">
              <a:spcAft>
                <a:spcPts val="400"/>
              </a:spcAft>
              <a:buSzPct val="100000"/>
              <a:buChar char="•"/>
            </a:pPr>
            <a:r>
              <a:rPr lang="en-US" sz="1100" dirty="0">
                <a:solidFill>
                  <a:srgbClr val="E6EDF3"/>
                </a:solidFill>
                <a:latin typeface="Calibri" pitchFamily="34" charset="0"/>
                <a:ea typeface="Calibri" pitchFamily="34" charset="-122"/>
                <a:cs typeface="Calibri" pitchFamily="34" charset="-120"/>
              </a:rPr>
              <a:t>Command history</a:t>
            </a:r>
            <a:endParaRPr lang="en-US" sz="1100" dirty="0"/>
          </a:p>
          <a:p>
            <a:pPr marL="342900" indent="-342900">
              <a:spcAft>
                <a:spcPts val="400"/>
              </a:spcAft>
              <a:buSzPct val="100000"/>
              <a:buChar char="•"/>
            </a:pPr>
            <a:r>
              <a:rPr lang="en-US" sz="1100" dirty="0">
                <a:solidFill>
                  <a:srgbClr val="E6EDF3"/>
                </a:solidFill>
                <a:latin typeface="Calibri" pitchFamily="34" charset="0"/>
                <a:ea typeface="Calibri" pitchFamily="34" charset="-122"/>
                <a:cs typeface="Calibri" pitchFamily="34" charset="-120"/>
              </a:rPr>
              <a:t>Better error handling</a:t>
            </a:r>
            <a:endParaRPr lang="en-US" sz="1100" dirty="0"/>
          </a:p>
          <a:p>
            <a:pPr marL="342900" indent="-342900">
              <a:spcAft>
                <a:spcPts val="400"/>
              </a:spcAft>
              <a:buSzPct val="100000"/>
              <a:buChar char="•"/>
            </a:pPr>
            <a:r>
              <a:rPr lang="en-US" sz="1100" dirty="0">
                <a:solidFill>
                  <a:srgbClr val="E6EDF3"/>
                </a:solidFill>
                <a:latin typeface="Calibri" pitchFamily="34" charset="0"/>
                <a:ea typeface="Calibri" pitchFamily="34" charset="-122"/>
                <a:cs typeface="Calibri" pitchFamily="34" charset="-120"/>
              </a:rPr>
              <a:t>Coloured UI</a:t>
            </a:r>
            <a:endParaRPr lang="en-US" sz="1100" dirty="0"/>
          </a:p>
          <a:p>
            <a:pPr marL="342900" indent="-342900">
              <a:spcAft>
                <a:spcPts val="400"/>
              </a:spcAft>
              <a:buSzPct val="100000"/>
              <a:buChar char="•"/>
            </a:pPr>
            <a:r>
              <a:rPr lang="en-US" sz="1100" dirty="0">
                <a:solidFill>
                  <a:srgbClr val="E6EDF3"/>
                </a:solidFill>
                <a:latin typeface="Calibri" pitchFamily="34" charset="0"/>
                <a:ea typeface="Calibri" pitchFamily="34" charset="-122"/>
                <a:cs typeface="Calibri" pitchFamily="34" charset="-120"/>
              </a:rPr>
              <a:t>Symlink handling (lstat)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3879</Words>
  <Application>Microsoft Office PowerPoint</Application>
  <PresentationFormat>On-screen Show (16:9)</PresentationFormat>
  <Paragraphs>471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File System Explorer Using System Calls</dc:title>
  <dc:subject>PptxGenJS Presentation</dc:subject>
  <dc:creator>PptxGenJS</dc:creator>
  <cp:lastModifiedBy>raghava akkinepally</cp:lastModifiedBy>
  <cp:revision>2</cp:revision>
  <dcterms:created xsi:type="dcterms:W3CDTF">2026-09-24T04:50:56Z</dcterms:created>
  <dcterms:modified xsi:type="dcterms:W3CDTF">2026-09-24T05:01:48Z</dcterms:modified>
</cp:coreProperties>
</file>